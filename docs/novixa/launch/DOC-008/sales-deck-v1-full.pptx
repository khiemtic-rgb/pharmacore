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1/30</a:t>
            </a:r>
          </a:p>
          <a:p/>
          <a:p>
            <a:r>
              <a:t>Mở đầu bằng câu chuyện vận hành nhà thuốc, không mở bằng giá. Hỏi tên NT, số quầy, đang dùng phần mềm gì.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2/30</a:t>
            </a:r>
          </a:p>
          <a:p/>
          <a:p>
            <a:r>
              <a:t>Thời lượng ~45–60 phút gồm demo live. Slide 3–8: pain; 9–26: product; 27–32: commercial.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3/30</a:t>
            </a:r>
          </a:p>
          <a:p/>
          <a:p>
            <a:r>
              <a:t>Hỏi khách: Anh/chị đang mất nhiều thời gian nhất ở khâu nào — tồn, nhập hàng, hay khách quay lại?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4/30</a:t>
            </a:r>
          </a:p>
          <a:p/>
          <a:p>
            <a:r>
              <a:t>Mục tiêu slide: khách gật đầu “đúng pain của tôi” trước khi giới thiệu Novixa.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5/30</a:t>
            </a:r>
          </a:p>
          <a:p/>
          <a:p>
            <a:r>
              <a:t>Không cần số % tuyệt đối — dùng ví dụ từ pain khách vừa chia sẻ.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7/30</a:t>
            </a:r>
          </a:p>
          <a:p/>
          <a:p>
            <a:r>
              <a:t>Vẽ tay hoặc dùng sơ đồ 4 khối. Nhấn mạnh: khách và chủ NT chỉ cần nhớ admin + app + quầy.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8/30</a:t>
            </a:r>
          </a:p>
          <a:p/>
          <a:p>
            <a:r>
              <a:t>Đây là “story xương sống” cho demo. Mỗi bước tương ứng 1–2 màn hình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10/30</a:t>
            </a:r>
          </a:p>
          <a:p/>
          <a:p>
            <a:r>
              <a:t>Demo: Product list + import template + 1 sản phẩm có barcode.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11/30</a:t>
            </a:r>
          </a:p>
          <a:p/>
          <a:p>
            <a:r>
              <a:t>Demo: PO → GRN → kiểm tra tồn lô tăng.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12/30</a:t>
            </a:r>
          </a:p>
          <a:p/>
          <a:p>
            <a:r>
              <a:t>Demo: Stock by batch + báo cáo INV-02 cận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13/30</a:t>
            </a:r>
          </a:p>
          <a:p/>
          <a:p>
            <a:r>
              <a:t>Demo: Mở ca → 1 đơn 2–3 SP → xem lô xuất → in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14/30</a:t>
            </a:r>
          </a:p>
          <a:p/>
          <a:p>
            <a:r>
              <a:t>Show staff-app hub nếu có môi trường demo 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15/30</a:t>
            </a:r>
          </a:p>
          <a:p/>
          <a:p>
            <a:r>
              <a:t>Demo: 1 khách có điểm → POS đổi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16/30</a:t>
            </a:r>
          </a:p>
          <a:p/>
          <a:p>
            <a:r>
              <a:t>Demo: OTP login → home điểm → tạo đơn nháp → admin xử lý O2O.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17/30</a:t>
            </a:r>
          </a:p>
          <a:p/>
          <a:p>
            <a:r>
              <a:t>Câu chuyện bán: NT có fanpage/Zalo order — O2O formalize quy trình đó.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18/30</a:t>
            </a:r>
          </a:p>
          <a:p/>
          <a:p>
            <a:r>
              <a:t>Không gọi là “BI enterprise” — đúng scope Phase 1, đủ cho chủ NT 1–10 cửa.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20/30</a:t>
            </a:r>
          </a:p>
          <a:p/>
          <a:p>
            <a:r>
              <a:t>Reframe: so sánh category, không so sánh một dòng giá 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21/30</a:t>
            </a:r>
          </a:p>
          <a:p/>
          <a:p>
            <a:r>
              <a:t>Trả lời objection “cloud có an toàn không” — nhấn isolation + HTTPS +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23/30</a:t>
            </a:r>
          </a:p>
          <a:p/>
          <a:p>
            <a:r>
              <a:t>Cam kết founding = full Phase 1. Không hứa Phase 2 trong founding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25/30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26/30</a:t>
            </a:r>
          </a:p>
          <a:p/>
          <a:p>
            <a:r>
              <a:t>Thông điệp: founding là đầu tư lộ trình, không phải “lock-in giá cao bất ngờ”.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27/30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28/30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29/30</a:t>
            </a:r>
          </a:p>
          <a:p/>
          <a:p>
            <a:r>
              <a:t>Chốt cảm xúc trước slide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30/30</a:t>
            </a:r>
          </a:p>
          <a:p/>
          <a:p>
            <a:r>
              <a:t>Cảm ơn thời gian của anh/chị. Bước tiếp theo: khảo sát 15 phút hoặc lịch demo module sâu.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Novixa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Pharmacy Solutions · Giải pháp dược thông minh</a:t>
            </a:r>
          </a:p>
          <a:p>
            <a:r>
              <a:t>ERP + POS + Kho lô FEFO + CRM + App khách + Báo cáo — trên một hệ dữ liệu</a:t>
            </a:r>
          </a:p>
          <a:p>
            <a:r>
              <a:t>Founding Early Access 2026 · novixa.vn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buổi trình bày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Hôm nay chúng ta trao đổi</a:t>
            </a:r>
          </a:p>
          <a:p>
            <a:pPr>
              <a:defRPr sz="1500"/>
            </a:pPr>
            <a:r>
              <a:t>Bài toán vận hành nhà thuốc GPP hiện nay — vì sao Excel + POS rẻ không đủ</a:t>
            </a:r>
          </a:p>
          <a:p>
            <a:pPr>
              <a:defRPr sz="1500"/>
            </a:pPr>
            <a:r>
              <a:t>Novixa Platform — kiến trúc giải pháp và luồng dữ liệu end-to-end</a:t>
            </a:r>
          </a:p>
          <a:p>
            <a:pPr>
              <a:defRPr sz="1300"/>
            </a:pPr>
            <a:r>
              <a:t>Chi tiết 6 trụ cột sản phẩm: Danh mục · Mua hàng · Kho lô · POS · Khách hàng · Báo cáo</a:t>
            </a:r>
          </a:p>
          <a:p>
            <a:pPr>
              <a:defRPr sz="1500"/>
            </a:pPr>
            <a:r>
              <a:t>App khách &amp; O2O — kết nối quầy bán với khách hàng trung thành</a:t>
            </a:r>
          </a:p>
          <a:p>
            <a:pPr>
              <a:defRPr sz="1500"/>
            </a:pPr>
            <a:r>
              <a:t>Triển khai SaaS, bảo mật, hỗ trợ GPP vận hành</a:t>
            </a:r>
          </a:p>
          <a:p>
            <a:pPr>
              <a:defRPr sz="1500"/>
            </a:pPr>
            <a:r>
              <a:t>Founding Early Access — cách đồng hành go-live thật tại quầy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Bức tranh vận hành hiện tại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Nhà thuốc GPP đang chạy bằng 3–5 công cụ rời nhau</a:t>
            </a:r>
          </a:p>
          <a:p>
            <a:pPr>
              <a:defRPr sz="1500"/>
            </a:pPr>
            <a:r>
              <a:t>POS quầy — chỉ biết doanh thu ca, không biết tồn lô còn bao nhiêu ở kho</a:t>
            </a:r>
          </a:p>
          <a:p>
            <a:pPr>
              <a:defRPr sz="1500"/>
            </a:pPr>
            <a:r>
              <a:t>Excel / sổ giấy — tồn đầu, công nợ NCC, danh sách cận date cập nhật thủ công</a:t>
            </a:r>
          </a:p>
          <a:p>
            <a:pPr>
              <a:defRPr sz="1500"/>
            </a:pPr>
            <a:r>
              <a:t>Zalo / SĐT — đặt hàng, hỏi thuốc, không gắn với tồn và lịch sử mua</a:t>
            </a:r>
          </a:p>
          <a:p>
            <a:pPr>
              <a:defRPr sz="1500"/>
            </a:pPr>
            <a:r>
              <a:t>Báo cáo cuối tháng — tổng hợp chậm, khó biết hôm nay nên nhập gì</a:t>
            </a:r>
          </a:p>
          <a:p>
            <a:pPr>
              <a:defRPr sz="1500"/>
            </a:pPr>
            <a:r>
              <a:t>Hệ quả: Dược sĩ và chủ NT mất thời gian đối soát thay vì quản lý chuyên môn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Pain cụ thể tại quầy và kho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Những tình huống vẫn xảy ra khi thiếu hệ thống thống nhất</a:t>
            </a:r>
          </a:p>
          <a:p>
            <a:pPr>
              <a:defRPr sz="1500"/>
            </a:pPr>
            <a:r>
              <a:t>Bán nhầm lô — lô cận date còn trong kho nhưng quầy không thấy</a:t>
            </a:r>
          </a:p>
          <a:p>
            <a:pPr>
              <a:defRPr sz="1500"/>
            </a:pPr>
            <a:r>
              <a:t>Không truy vết được lô đã bán khi cần đối chiếu NCC hoặc kiểm tra nội bộ</a:t>
            </a:r>
          </a:p>
          <a:p>
            <a:pPr>
              <a:defRPr sz="1500"/>
            </a:pPr>
            <a:r>
              <a:t>Nhập hàng không khớp GRN thực tế — chênh lệch phát hiện muộn</a:t>
            </a:r>
          </a:p>
          <a:p>
            <a:pPr>
              <a:defRPr sz="1500"/>
            </a:pPr>
            <a:r>
              <a:t>Hàng chết ở kho — không có cảnh báo HSD sớm, lãng phí vốn</a:t>
            </a:r>
          </a:p>
          <a:p>
            <a:pPr>
              <a:defRPr sz="1500"/>
            </a:pPr>
            <a:r>
              <a:t>Chuỗi 2–3 cửa — không so sánh doanh thu / tồn giữa các quầy trong ngày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 phí ẩn nếu không thay đổi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Không chỉ là “phần mềm đắt hay rẻ” — mà là chi phí vận hành mỗi tháng</a:t>
            </a:r>
          </a:p>
          <a:p>
            <a:pPr>
              <a:defRPr sz="1500"/>
            </a:pPr>
            <a:r>
              <a:t>Pain | Biểu hiện | Hướng tác động</a:t>
            </a:r>
          </a:p>
          <a:p>
            <a:pPr>
              <a:defRPr sz="1500"/>
            </a:pPr>
            <a:r>
              <a:t>Thất thoát tồn | Xuất nhập không khớp lô | % doanh thu mất hàng tháng</a:t>
            </a:r>
          </a:p>
          <a:p>
            <a:pPr>
              <a:defRPr sz="1500"/>
            </a:pPr>
            <a:r>
              <a:t>Hủy cận date | Không FEFO, không cảnh báo | Vốn + thời gian xử lý</a:t>
            </a:r>
          </a:p>
          <a:p>
            <a:pPr>
              <a:defRPr sz="1500"/>
            </a:pPr>
            <a:r>
              <a:t>Nhập sai / thiếu | Quyết định mua bằng cảm giác | Thiếu hàng hot, dư hàng chậm</a:t>
            </a:r>
          </a:p>
          <a:p>
            <a:pPr>
              <a:defRPr sz="1500"/>
            </a:pPr>
            <a:r>
              <a:t>Mất khách | Không CRM, không nhắc tái mua | Doanh thu lặp lại thấp</a:t>
            </a:r>
          </a:p>
          <a:p>
            <a:pPr>
              <a:defRPr sz="1500"/>
            </a:pPr>
            <a:r>
              <a:t>Mở rộng chuỗi chậm | Mỗi cửa một cách làm | Không scale được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Novixa giải quyết ở tầng nào?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Novixa không thay POS thu ngân — Novixa thay “cách quản trị toàn nhà thuốc”</a:t>
            </a:r>
          </a:p>
          <a:p>
            <a:pPr>
              <a:defRPr sz="1500"/>
            </a:pPr>
            <a:r>
              <a:t>Một database nghiệp vụ — mua, tồn, bán, khách, báo cáo cùng nguồn</a:t>
            </a:r>
          </a:p>
          <a:p>
            <a:pPr>
              <a:defRPr sz="1500"/>
            </a:pPr>
            <a:r>
              <a:t>Thiết kế cho GPP vận hành — lô, HSD, FEFO, kiểm kê, audit</a:t>
            </a:r>
          </a:p>
          <a:p>
            <a:pPr>
              <a:defRPr sz="1500"/>
            </a:pPr>
            <a:r>
              <a:t>Quầy bán nhanh — POS tích hợp sẵn kho lô, không nhập tồn tay sau ca</a:t>
            </a:r>
          </a:p>
          <a:p>
            <a:pPr>
              <a:defRPr sz="1500"/>
            </a:pPr>
            <a:r>
              <a:t>Mở rộng O2O — app khách, đặt trước, loyalty gắn trực tiếp quầy</a:t>
            </a:r>
          </a:p>
          <a:p>
            <a:pPr>
              <a:defRPr sz="1500"/>
            </a:pPr>
            <a:r>
              <a:t>SaaS cloud — không cài server tại quầy, cập nhật tập trung</a:t>
            </a:r>
          </a:p>
          <a:p>
            <a:pPr>
              <a:defRPr sz="1300"/>
            </a:pPr>
            <a:r>
              <a:t>Phân loại: ERP nhà thuốc · Không phải phần mềm kế toán thay thế · Không phải tư vấn y khoa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Novixa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4 lớp — 1 nền tảng PharmaCore</a:t>
            </a:r>
          </a:p>
          <a:p>
            <a:pPr>
              <a:defRPr sz="1500"/>
            </a:pPr>
            <a:r>
              <a:t>Lớp trải nghiệm</a:t>
            </a:r>
          </a:p>
          <a:p>
            <a:pPr>
              <a:defRPr sz="1500"/>
            </a:pPr>
            <a:r>
              <a:t>- Admin Web (`admin.novixa.vn`) — quản lý, mua hàng, kho, CRM, báo cáo</a:t>
            </a:r>
          </a:p>
          <a:p>
            <a:pPr>
              <a:defRPr sz="1500"/>
            </a:pPr>
            <a:r>
              <a:t>- POS Desktop / POS route (`pos.novixa.vn`) — thu ngân tại quầy</a:t>
            </a:r>
          </a:p>
          <a:p>
            <a:pPr>
              <a:defRPr sz="1500"/>
            </a:pPr>
            <a:r>
              <a:t>- Staff App (mobile) — bán hàng, tra tồn, O2O khi di chuyển</a:t>
            </a:r>
          </a:p>
          <a:p>
            <a:pPr>
              <a:defRPr sz="1500"/>
            </a:pPr>
            <a:r>
              <a:t>- Customer App (`app.novixa.vn`) — khách hàng: OTP, điểm, đặt trước, chat</a:t>
            </a:r>
          </a:p>
          <a:p>
            <a:pPr>
              <a:defRPr sz="1500"/>
            </a:pPr>
            <a:r>
              <a:t>Lớp API — `api.novixa.vn` · multi-tenant · phân quyền RBAC</a:t>
            </a:r>
          </a:p>
          <a:p>
            <a:pPr>
              <a:defRPr sz="1500"/>
            </a:pPr>
            <a:r>
              <a:t>Lớp dữ liệu — PostgreSQL · `stock_movements` là sổ cái tồn</a:t>
            </a:r>
          </a:p>
          <a:p>
            <a:pPr>
              <a:defRPr sz="1500"/>
            </a:pPr>
            <a:r>
              <a:t>Marketing — `novixa.vn` tách biệt ERP (bảo mật, cập nhật nội dung độc lập)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Luồng dữ liệu end-to-end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Từ lúc hàng về kho đến khi khách quay lại — không đứt gãy</a:t>
            </a:r>
          </a:p>
          <a:p>
            <a:pPr>
              <a:defRPr sz="1300"/>
            </a:pPr>
            <a:r>
              <a:t>1. Danh mục — mã SP, barcode, đơn vị, giá, hoạt chất, phân loại (catalog không chứa tồn)</a:t>
            </a:r>
          </a:p>
          <a:p>
            <a:pPr>
              <a:defRPr sz="1500"/>
            </a:pPr>
            <a:r>
              <a:t>2. Mua hàng — PO → GRN → tăng tồn theo lô + HSD + VAT cơ bản</a:t>
            </a:r>
          </a:p>
          <a:p>
            <a:pPr>
              <a:defRPr sz="1500"/>
            </a:pPr>
            <a:r>
              <a:t>3. Kho — tồn available, chuyển kho, điều chỉnh, kiểm kê có duyệt</a:t>
            </a:r>
          </a:p>
          <a:p>
            <a:pPr>
              <a:defRPr sz="1500"/>
            </a:pPr>
            <a:r>
              <a:t>4. Bán POS — FEFO xuất lô · ca · thanh toán · in bill · trả hàng</a:t>
            </a:r>
          </a:p>
          <a:p>
            <a:pPr>
              <a:defRPr sz="1500"/>
            </a:pPr>
            <a:r>
              <a:t>5. Khách hàng — CRM, điểm, voucher, app đặt trước → quầy xử lý O2O</a:t>
            </a:r>
          </a:p>
          <a:p>
            <a:pPr>
              <a:defRPr sz="1500"/>
            </a:pPr>
            <a:r>
              <a:t>6. Báo cáo — doanh thu, tồn, cận date, công nợ — trong ngày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phù hợp Novixa?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Ideal Customer Profile — Founding 2026</a:t>
            </a:r>
          </a:p>
          <a:p>
            <a:pPr>
              <a:defRPr sz="1500"/>
            </a:pPr>
            <a:r>
              <a:t>[Co san] Rất phù hợp</a:t>
            </a:r>
          </a:p>
          <a:p>
            <a:pPr>
              <a:defRPr sz="1500"/>
            </a:pPr>
            <a:r>
              <a:t>Nhà thuốc GPP — độc lập hoặc chuỗi 2–10 cửa</a:t>
            </a:r>
          </a:p>
          <a:p>
            <a:pPr>
              <a:defRPr sz="1500"/>
            </a:pPr>
            <a:r>
              <a:t>Đang dùng Excel + POS hoặc POS không quản lý lô/HSD</a:t>
            </a:r>
          </a:p>
          <a:p>
            <a:pPr>
              <a:defRPr sz="1500"/>
            </a:pPr>
            <a:r>
              <a:t>Muốn gom quầy + kho + khách trước khi mở thêm chi nhánh</a:t>
            </a:r>
          </a:p>
          <a:p>
            <a:pPr>
              <a:defRPr sz="1500"/>
            </a:pPr>
            <a:r>
              <a:t>Sẵn sàng migrate + training 4 tuần — chạy thật, không pilot giả</a:t>
            </a:r>
          </a:p>
          <a:p>
            <a:pPr>
              <a:defRPr sz="1500"/>
            </a:pPr>
            <a:r>
              <a:t>[Khong] Chưa phù hợp (nói thẳng, giữ quan hệ)</a:t>
            </a:r>
          </a:p>
          <a:p>
            <a:pPr>
              <a:defRPr sz="1500"/>
            </a:pPr>
            <a:r>
              <a:t>Chỉ cần thu ngân, không quan tâm lô/HSD/FEFO</a:t>
            </a:r>
          </a:p>
          <a:p>
            <a:pPr>
              <a:defRPr sz="1500"/>
            </a:pPr>
            <a:r>
              <a:t>Kỳ vọng HĐĐT + kế toán thuế đầy đủ ngay (Phase 2 — roadmap)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1: Danh mục &amp;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Nền tảng dữ liệu sản phẩm — sạch, import được, mở rộng chuỗi</a:t>
            </a:r>
          </a:p>
          <a:p>
            <a:pPr>
              <a:defRPr sz="1500"/>
            </a:pPr>
            <a:r>
              <a:t>Sản phẩm master — mã nội bộ, tên, barcode, đơn vị, nhóm, thương hiệu</a:t>
            </a:r>
          </a:p>
          <a:p>
            <a:pPr>
              <a:defRPr sz="1500"/>
            </a:pPr>
            <a:r>
              <a:t>Phân loại — danh mục, hoạt chất, tags phục vụ báo cáo doanh thu theo nhóm</a:t>
            </a:r>
          </a:p>
          <a:p>
            <a:pPr>
              <a:defRPr sz="1500"/>
            </a:pPr>
            <a:r>
              <a:t>Giá bán — theo ngữ cảnh bán; tồn không nằm trong catalog (đúng chuẩn ERP)</a:t>
            </a:r>
          </a:p>
          <a:p>
            <a:pPr>
              <a:defRPr sz="1500"/>
            </a:pPr>
            <a:r>
              <a:t>Import Excel — migrate nhanh từ file cũ khi onboarding founding</a:t>
            </a:r>
          </a:p>
          <a:p>
            <a:pPr>
              <a:defRPr sz="1500"/>
            </a:pPr>
            <a:r>
              <a:t>Tra cứu thuốc QG — hỗ trợ tham khảo (mock V1 — live API roadmap)</a:t>
            </a:r>
          </a:p>
          <a:p>
            <a:pPr>
              <a:defRPr sz="1500"/>
            </a:pPr>
            <a:r>
              <a:t>Giá trị: Một lần chuẩn hóa danh mục → mọi module dùng chung, không duplicate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Mua hàng (Procurement)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Kiểm soát nguồn hàng và giá nhập — nền tảng tồn kho chính xác</a:t>
            </a:r>
          </a:p>
          <a:p>
            <a:pPr>
              <a:defRPr sz="1500"/>
            </a:pPr>
            <a:r>
              <a:t>Nhà cung cấp (NCC) — hồ sơ, điều khoản, lịch sử mua</a:t>
            </a:r>
          </a:p>
          <a:p>
            <a:pPr>
              <a:defRPr sz="1500"/>
            </a:pPr>
            <a:r>
              <a:t>Đơn đặt hàng (PO) — đặt hàng theo nhu cầu / tồn thấp</a:t>
            </a:r>
          </a:p>
          <a:p>
            <a:pPr>
              <a:defRPr sz="1500"/>
            </a:pPr>
            <a:r>
              <a:t>Nhập kho (GRN) — nhận hàng thực tế, số lô, HSD, số lượng, giá nhập</a:t>
            </a:r>
          </a:p>
          <a:p>
            <a:pPr>
              <a:defRPr sz="1500"/>
            </a:pPr>
            <a:r>
              <a:t>Thuế GTGT cơ bản trên chứng từ mua (Phase 1 — cấu hình VAT treatment)</a:t>
            </a:r>
          </a:p>
          <a:p>
            <a:pPr>
              <a:defRPr sz="1500"/>
            </a:pPr>
            <a:r>
              <a:t>Công nợ NCC (AP) — theo dõi phải trả, lịch thanh toán NCC</a:t>
            </a:r>
          </a:p>
          <a:p>
            <a:pPr>
              <a:defRPr sz="1300"/>
            </a:pPr>
            <a:r>
              <a:t>Giá trị: Mỗi lô hàng trong kho đều truy vết được từ GRN — phục vụ GPP và đối soát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3: Kho &amp; Tồn lô (FEFO)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Trái tim của Novixa — tồn theo lô, HSD, và sổ cái minh bạch</a:t>
            </a:r>
          </a:p>
          <a:p>
            <a:pPr>
              <a:defRPr sz="1500"/>
            </a:pPr>
            <a:r>
              <a:t>Batch / lô — mỗi lô: số lô, HSD, số lượng, kho, chi nhánh</a:t>
            </a:r>
          </a:p>
          <a:p>
            <a:pPr>
              <a:defRPr sz="1500"/>
            </a:pPr>
            <a:r>
              <a:t>FEFO khi bán — hệ thống ưu tiên lô hết hạn trước — giảm hủy</a:t>
            </a:r>
          </a:p>
          <a:p>
            <a:pPr>
              <a:defRPr sz="1500"/>
            </a:pPr>
            <a:r>
              <a:t>Chuyển kho · điều chỉnh — có log; không sửa tồn “im lặng”</a:t>
            </a:r>
          </a:p>
          <a:p>
            <a:pPr>
              <a:defRPr sz="1500"/>
            </a:pPr>
            <a:r>
              <a:t>Kiểm kê chu kỳ — workflow đếm thực tế → duyệt chênh lệch → điều chỉnh</a:t>
            </a:r>
          </a:p>
          <a:p>
            <a:pPr>
              <a:defRPr sz="1500"/>
            </a:pPr>
            <a:r>
              <a:t>Cảnh báo — tồn thấp (nhập kịp), cận date / HSD (xử lý sớm)</a:t>
            </a:r>
          </a:p>
          <a:p>
            <a:pPr>
              <a:defRPr sz="1300"/>
            </a:pPr>
            <a:r>
              <a:t>Nguyên tắc kỹ thuật: `stock_movements` = sổ cái; số tồn hiển thị là cache tính toán</a:t>
            </a:r>
          </a:p>
          <a:p>
            <a:pPr>
              <a:defRPr sz="1300"/>
            </a:pPr>
            <a:r>
              <a:t>Giá trị: Trả lời được 3 câu hỏi mỗi sáng: Còn bao nhiêu? Lô nào? Hết hạn khi nào?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4: Bán hàng 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Quầy nhanh — nhưng không hy sinh kiểm soát lô</a:t>
            </a:r>
          </a:p>
          <a:p>
            <a:pPr>
              <a:defRPr sz="1500"/>
            </a:pPr>
            <a:r>
              <a:t>Mở ca / đóng ca — giao ca rõ ràng, báo cáo ca SALES-03</a:t>
            </a:r>
          </a:p>
          <a:p>
            <a:pPr>
              <a:defRPr sz="1500"/>
            </a:pPr>
            <a:r>
              <a:t>Bán hàng — quét barcode, tìm nhanh, chiết khấu dòng/đơn, đa hình thức TT</a:t>
            </a:r>
          </a:p>
          <a:p>
            <a:pPr>
              <a:defRPr sz="1500"/>
            </a:pPr>
            <a:r>
              <a:t>FEFO tự động — xuất đúng lô; cấu hình gợi ý lô hoặc bắt buộc chọn lô</a:t>
            </a:r>
          </a:p>
          <a:p>
            <a:pPr>
              <a:defRPr sz="1500"/>
            </a:pPr>
            <a:r>
              <a:t>In bill nhiệt — cài đặt receipt theo nhà thuốc</a:t>
            </a:r>
          </a:p>
          <a:p>
            <a:pPr>
              <a:defRPr sz="1500"/>
            </a:pPr>
            <a:r>
              <a:t>Trả hàng — hoàn tồn đúng lô, đúng audit</a:t>
            </a:r>
          </a:p>
          <a:p>
            <a:pPr>
              <a:defRPr sz="1500"/>
            </a:pPr>
            <a:r>
              <a:t>Đơn nháp — giữ đơn khi khách quay lại lấy thuốc</a:t>
            </a:r>
          </a:p>
          <a:p>
            <a:pPr>
              <a:defRPr sz="1500"/>
            </a:pPr>
            <a:r>
              <a:t>Giá trị: Thu ngân thao tác nhanh; chủ NT yên tâm vì mỗi đơn gắn biến động kho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App — POS di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Dược sĩ / thu ngân không bị “khóa” tại một máy tính</a:t>
            </a:r>
          </a:p>
          <a:p>
            <a:pPr>
              <a:defRPr sz="1500"/>
            </a:pPr>
            <a:r>
              <a:t>POS mobile — bán hàng ngay trên điện thoại / tablet</a:t>
            </a:r>
          </a:p>
          <a:p>
            <a:pPr>
              <a:defRPr sz="1500"/>
            </a:pPr>
            <a:r>
              <a:t>Tra tồn nhanh — kiểm tra lô/HSD trước khi hứa khách</a:t>
            </a:r>
          </a:p>
          <a:p>
            <a:pPr>
              <a:defRPr sz="1500"/>
            </a:pPr>
            <a:r>
              <a:t>Ca &amp; doanh thu ngày — tóm tắt ca làm việc</a:t>
            </a:r>
          </a:p>
          <a:p>
            <a:pPr>
              <a:defRPr sz="1500"/>
            </a:pPr>
            <a:r>
              <a:t>Trả hàng — xử lý tại quầy phụ / khi đi giao</a:t>
            </a:r>
          </a:p>
          <a:p>
            <a:pPr>
              <a:defRPr sz="1500"/>
            </a:pPr>
            <a:r>
              <a:t>O2O hỗ trợ — xem đơn app khách, chat khi cần</a:t>
            </a:r>
          </a:p>
          <a:p>
            <a:pPr>
              <a:defRPr sz="1500"/>
            </a:pPr>
            <a:r>
              <a:t>Giá trị: Phù hợp quầy nhỏ, bán thêm tại kho, hoặc chủ duyệt nhanh trên mobile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5: CRM &amp; Khách hàng (Admin)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Biết khách là ai — không chỉ biết doanh thu ca</a:t>
            </a:r>
          </a:p>
          <a:p>
            <a:pPr>
              <a:defRPr sz="1500"/>
            </a:pPr>
            <a:r>
              <a:t>Hồ sơ khách — SĐT, lịch sử mua, phân khúc</a:t>
            </a:r>
          </a:p>
          <a:p>
            <a:pPr>
              <a:defRPr sz="1500"/>
            </a:pPr>
            <a:r>
              <a:t>Loyalty — tích điểm, đổi điểm, voucher khuyến mại</a:t>
            </a:r>
          </a:p>
          <a:p>
            <a:pPr>
              <a:defRPr sz="1500"/>
            </a:pPr>
            <a:r>
              <a:t>Công nợ KH (Receivables) — bán chịu có kiểm soát, thu nợ</a:t>
            </a:r>
          </a:p>
          <a:p>
            <a:pPr>
              <a:defRPr sz="1500"/>
            </a:pPr>
            <a:r>
              <a:t>Engagement — nền tảng chăm sóc có consent, audit</a:t>
            </a:r>
          </a:p>
          <a:p>
            <a:pPr>
              <a:defRPr sz="1500"/>
            </a:pPr>
            <a:r>
              <a:t>Đồng bộ với POS — quét SĐT tại quầy → tích/đổi điểm ngay</a:t>
            </a:r>
          </a:p>
          <a:p>
            <a:pPr>
              <a:defRPr sz="1500"/>
            </a:pPr>
            <a:r>
              <a:t>Giá trị: Chuyển từ “bán vãng lai” sang khách quay lại có dữ liệu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Novixa Care: App khách hàng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Ứng dụng riêng cho khách nhà thuốc — gắn chặt quầy bán</a:t>
            </a:r>
          </a:p>
          <a:p>
            <a:pPr>
              <a:defRPr sz="1500"/>
            </a:pPr>
            <a:r>
              <a:t>Đăng nhập OTP theo SĐT — xác thực khách thật</a:t>
            </a:r>
          </a:p>
          <a:p>
            <a:pPr>
              <a:defRPr sz="1500"/>
            </a:pPr>
            <a:r>
              <a:t>Tích điểm / voucher — xem ưu đãi, lịch sử điểm</a:t>
            </a:r>
          </a:p>
          <a:p>
            <a:pPr>
              <a:defRPr sz="1500"/>
            </a:pPr>
            <a:r>
              <a:t>Nhắc uống thuốc (Reminders) — tái mua có chủ đích</a:t>
            </a:r>
          </a:p>
          <a:p>
            <a:pPr>
              <a:defRPr sz="1500"/>
            </a:pPr>
            <a:r>
              <a:t>Đơn nháp O2O — khách chọn SP → quầy xác nhận &amp; bán</a:t>
            </a:r>
          </a:p>
          <a:p>
            <a:pPr>
              <a:defRPr sz="1500"/>
            </a:pPr>
            <a:r>
              <a:t>Giữ hàng (Reservations) — giữ tồn cho khách quen</a:t>
            </a:r>
          </a:p>
          <a:p>
            <a:pPr>
              <a:defRPr sz="1500"/>
            </a:pPr>
            <a:r>
              <a:t>Chat dược sĩ — có consent; không thay tư vấn y khoa tại quầy</a:t>
            </a:r>
          </a:p>
          <a:p>
            <a:pPr>
              <a:defRPr sz="1500"/>
            </a:pPr>
            <a:r>
              <a:t>Health wallet / Gia đình — hồ sơ mở rộng (consent rõ ràng)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O2O: Online to Offline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Khách đặt trên app — dược sĩ bán tại quầy — một nguồn tồn</a:t>
            </a:r>
          </a:p>
          <a:p>
            <a:pPr>
              <a:defRPr sz="1500"/>
            </a:pPr>
            <a:r>
              <a:t>1. Khách đăng nhập app → chọn sản phẩm → gửi đơn nháp</a:t>
            </a:r>
          </a:p>
          <a:p>
            <a:pPr>
              <a:defRPr sz="1500"/>
            </a:pPr>
            <a:r>
              <a:t>2. Quầy nhận thông báo trên Admin / Staff app</a:t>
            </a:r>
          </a:p>
          <a:p>
            <a:pPr>
              <a:defRPr sz="1500"/>
            </a:pPr>
            <a:r>
              <a:t>3. Dược sĩ kiểm tra tồn lô → gọi xác nhận nếu cần</a:t>
            </a:r>
          </a:p>
          <a:p>
            <a:pPr>
              <a:defRPr sz="1500"/>
            </a:pPr>
            <a:r>
              <a:t>4. Chốt POS — trừ tồn FEFO, tích điểm, in bill khi khách đến lấy</a:t>
            </a:r>
          </a:p>
          <a:p>
            <a:pPr>
              <a:defRPr sz="1500"/>
            </a:pPr>
            <a:r>
              <a:t>5. Lịch sử đơn lưu CRM — phục vụ tái mua / nhắc uống thuốc</a:t>
            </a:r>
          </a:p>
          <a:p>
            <a:pPr>
              <a:defRPr sz="1500"/>
            </a:pPr>
            <a:r>
              <a:t>Giá trị: Kênh online không tách khỏi kho thật — tránh bán ảo, hết hàng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Báo cáo Wave 1 — Quản trị trong ngày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9 báo cáo sẵn có — không chờ cuối tháng</a:t>
            </a:r>
          </a:p>
          <a:p>
            <a:pPr>
              <a:defRPr sz="1300"/>
            </a:pPr>
            <a:r>
              <a:t>Sales: SALES-01 Doanh thu theo thời gian · SALES-02 theo hình thức TT · SALES-03 Báo cáo ca · SALES-04 Doanh thu theo danh mục</a:t>
            </a:r>
          </a:p>
          <a:p>
            <a:pPr>
              <a:defRPr sz="1500"/>
            </a:pPr>
            <a:r>
              <a:t>Procurement: PROC-01 Giá trị nhập GRN · PROC-03 Công nợ NCC</a:t>
            </a:r>
          </a:p>
          <a:p>
            <a:pPr>
              <a:defRPr sz="1300"/>
            </a:pPr>
            <a:r>
              <a:t>Inventory: INV-01 Tồn hiện tại · INV-02 Hàng cận date/HSD · INV-03 Tóm tắt xuất nhập tồn</a:t>
            </a:r>
          </a:p>
          <a:p>
            <a:pPr>
              <a:defRPr sz="1500"/>
            </a:pPr>
            <a:r>
              <a:t>Xuất CSV · in màn hình · lọc theo chi nhánh / thời gian</a:t>
            </a:r>
          </a:p>
          <a:p>
            <a:pPr>
              <a:defRPr sz="1500"/>
            </a:pPr>
            <a:r>
              <a:t>Dashboard tổng quan — KPI mở đầu ngày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vận hành đa chi nhánh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Một tài khoản — nhiều quầy — một sự thật</a:t>
            </a:r>
          </a:p>
          <a:p>
            <a:pPr>
              <a:defRPr sz="1500"/>
            </a:pPr>
            <a:r>
              <a:t>Dashboard — doanh thu, xu hướng, KPI tổng quan khi mở admin</a:t>
            </a:r>
          </a:p>
          <a:p>
            <a:pPr>
              <a:defRPr sz="1500"/>
            </a:pPr>
            <a:r>
              <a:t>Chi nhánh / kho — phân tách dữ liệu theo cửa, tổng hợp khi cần</a:t>
            </a:r>
          </a:p>
          <a:p>
            <a:pPr>
              <a:defRPr sz="1500"/>
            </a:pPr>
            <a:r>
              <a:t>Phân quyền RBAC — thu ngân ≠ sửa giá ≠ duyệt kiểm kê</a:t>
            </a:r>
          </a:p>
          <a:p>
            <a:pPr>
              <a:defRPr sz="1500"/>
            </a:pPr>
            <a:r>
              <a:t>Audit log — truy vết thao tác quan trọng trên hệ thống</a:t>
            </a:r>
          </a:p>
          <a:p>
            <a:pPr>
              <a:defRPr sz="1500"/>
            </a:pPr>
            <a:r>
              <a:t>Cài đặt — bill, loyalty, app khách, receipt — theo từng nhà thuốc</a:t>
            </a:r>
          </a:p>
          <a:p>
            <a:pPr>
              <a:defRPr sz="1500"/>
            </a:pPr>
            <a:r>
              <a:t>Giá trị chuỗi nhỏ: Mở cửa thứ 2 không có nghĩa là thêm một “Excel mới”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sánh: Novixa vs POS rẻ /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Tiêu chí | Novixa ERP | POS rẻ / Excel</a:t>
            </a:r>
          </a:p>
          <a:p>
            <a:pPr>
              <a:defRPr sz="1500"/>
            </a:pPr>
            <a:r>
              <a:t>Mục đích | Quản trị toàn NT | Thu ngân / bảng tính</a:t>
            </a:r>
          </a:p>
          <a:p>
            <a:pPr>
              <a:defRPr sz="1500"/>
            </a:pPr>
            <a:r>
              <a:t>Tồn theo lô &amp; HSD | [Co san] Native FEFO | [Khong] / thủ công</a:t>
            </a:r>
          </a:p>
          <a:p>
            <a:pPr>
              <a:defRPr sz="1500"/>
            </a:pPr>
            <a:r>
              <a:t>Mua hàng → GRN → tồn | [Co san] Một luồng | Tách rời</a:t>
            </a:r>
          </a:p>
          <a:p>
            <a:pPr>
              <a:defRPr sz="1500"/>
            </a:pPr>
            <a:r>
              <a:t>Kiểm kê có duyệt | [Co san] Workflow | Khó</a:t>
            </a:r>
          </a:p>
          <a:p>
            <a:pPr>
              <a:defRPr sz="1500"/>
            </a:pPr>
            <a:r>
              <a:t>App khách + O2O | [Co san] Gắn quầy | [Khong]</a:t>
            </a:r>
          </a:p>
          <a:p>
            <a:pPr>
              <a:defRPr sz="1500"/>
            </a:pPr>
            <a:r>
              <a:t>Loyalty tại POS | [Co san] | Hạn chế</a:t>
            </a:r>
          </a:p>
          <a:p>
            <a:pPr>
              <a:defRPr sz="1500"/>
            </a:pPr>
            <a:r>
              <a:t>Báo cáo tồn + cận date | [Co san] 9 báo cáo | Trễ / manual</a:t>
            </a:r>
          </a:p>
          <a:p>
            <a:pPr>
              <a:defRPr sz="1500"/>
            </a:pPr>
            <a:r>
              <a:t>Scale 2–10 cửa | [Co san] Multi-branch | Rối</a:t>
            </a:r>
          </a:p>
          <a:p>
            <a:pPr>
              <a:defRPr sz="1500"/>
            </a:pPr>
            <a:r>
              <a:t>Giá | Premium ERP | Thấp hơn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Bảo mật &amp; SaaS Multi-tenant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Cloud — nhưng dữ liệu từng nhà thuốc được cách ly</a:t>
            </a:r>
          </a:p>
          <a:p>
            <a:pPr>
              <a:defRPr sz="1500"/>
            </a:pPr>
            <a:r>
              <a:t>HTTPS end-to-end · hosting VPS/cloud có SSL</a:t>
            </a:r>
          </a:p>
          <a:p>
            <a:pPr>
              <a:defRPr sz="1500"/>
            </a:pPr>
            <a:r>
              <a:t>Tenant isolation — mỗi NT một `tenant_id`; JWT mang context tenant</a:t>
            </a:r>
          </a:p>
          <a:p>
            <a:pPr>
              <a:defRPr sz="1500"/>
            </a:pPr>
            <a:r>
              <a:t>Đăng nhập admin — Mã nhà thuốc + user + mật khẩu + phân quyền</a:t>
            </a:r>
          </a:p>
          <a:p>
            <a:pPr>
              <a:defRPr sz="1500"/>
            </a:pPr>
            <a:r>
              <a:t>Marketing site tách ERP — `novixa.vn` không truy cập DB nghiệp vụ</a:t>
            </a:r>
          </a:p>
          <a:p>
            <a:pPr>
              <a:defRPr sz="1500"/>
            </a:pPr>
            <a:r>
              <a:t>Backup DB hàng ngày · kế hoạch restore</a:t>
            </a:r>
          </a:p>
          <a:p>
            <a:pPr>
              <a:defRPr sz="1500"/>
            </a:pPr>
            <a:r>
              <a:t>Không bán dữ liệu khách · consent app theo cấu hình tenant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GPP: Novixa hỗ trợ vận hành thế nào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Phần mềm quản lý — đồng hành tinh thần GPP, không thay trách nhiệm pháp lý</a:t>
            </a:r>
          </a:p>
          <a:p>
            <a:pPr>
              <a:defRPr sz="1500"/>
            </a:pPr>
            <a:r>
              <a:t>Hỗ trợ ghi nhận &amp; truy vết</a:t>
            </a:r>
          </a:p>
          <a:p>
            <a:pPr>
              <a:defRPr sz="1500"/>
            </a:pPr>
            <a:r>
              <a:t>Nhập hàng có lô/HSD · bán FEFO · kiểm kê · audit · cảnh báo cận date</a:t>
            </a:r>
          </a:p>
          <a:p>
            <a:pPr>
              <a:defRPr sz="1500"/>
            </a:pPr>
            <a:r>
              <a:t>Novixa không thay thế</a:t>
            </a:r>
          </a:p>
          <a:p>
            <a:pPr>
              <a:defRPr sz="1500"/>
            </a:pPr>
            <a:r>
              <a:t>Trách nhiệm đạt chuẩn GPP · bảo quản vật lý · kê đơn / tư vấn y khoa tại quầy</a:t>
            </a:r>
          </a:p>
          <a:p>
            <a:pPr>
              <a:defRPr sz="1300"/>
            </a:pPr>
            <a:r>
              <a:t>Thông điệp sales: “Novixa giúp anh/chị  chứng minh quy trình bằng dữ liệu — còn chuyên môn vẫn ở dược sĩ.”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(V1) vs Phase 2 (Roadmap)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Nói thật — xây niềm tin dài hạn</a:t>
            </a:r>
          </a:p>
          <a:p>
            <a:pPr>
              <a:defRPr sz="1500"/>
            </a:pPr>
            <a:r>
              <a:t>Hạng mục | Phase 1 — có sẵn | Phase 2 — roadmap</a:t>
            </a:r>
          </a:p>
          <a:p>
            <a:pPr>
              <a:defRPr sz="1500"/>
            </a:pPr>
            <a:r>
              <a:t>POS, kho lô, GRN, kiểm kê | [Co san]</a:t>
            </a:r>
          </a:p>
          <a:p>
            <a:pPr>
              <a:defRPr sz="1500"/>
            </a:pPr>
            <a:r>
              <a:t>App khách, loyalty, O2O, chat | [Co san]</a:t>
            </a:r>
          </a:p>
          <a:p>
            <a:pPr>
              <a:defRPr sz="1500"/>
            </a:pPr>
            <a:r>
              <a:t>CRM, công nợ KH/NCC | [Co san]</a:t>
            </a:r>
          </a:p>
          <a:p>
            <a:pPr>
              <a:defRPr sz="1500"/>
            </a:pPr>
            <a:r>
              <a:t>Báo cáo Wave 1 (9) | [Co san]</a:t>
            </a:r>
          </a:p>
          <a:p>
            <a:pPr>
              <a:defRPr sz="1500"/>
            </a:pPr>
            <a:r>
              <a:t>VAT cơ bản trên mua hàng | [Co san] | Báo cáo thuế sâu</a:t>
            </a:r>
          </a:p>
          <a:p>
            <a:pPr>
              <a:defRPr sz="1500"/>
            </a:pPr>
            <a:r>
              <a:t>Hóa đơn điện tử | [Roadmap]</a:t>
            </a:r>
          </a:p>
          <a:p>
            <a:pPr>
              <a:defRPr sz="1500"/>
            </a:pPr>
            <a:r>
              <a:t>CSDL thuốc QG live | [Pilot/Roadmap] Mock | Live API</a:t>
            </a:r>
          </a:p>
          <a:p>
            <a:pPr>
              <a:defRPr sz="1500"/>
            </a:pPr>
            <a:r>
              <a:t>AI copilot | [Pilot/Roadmap] Rule-based | Mở rộng 2026+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Triển khai &amp;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Không “giao license tự cài” — đồng hành go-live ~4 tuần</a:t>
            </a:r>
          </a:p>
          <a:p>
            <a:pPr>
              <a:defRPr sz="1500"/>
            </a:pPr>
            <a:r>
              <a:t>Tuần | Việc chính</a:t>
            </a:r>
          </a:p>
          <a:p>
            <a:pPr>
              <a:defRPr sz="1500"/>
            </a:pPr>
            <a:r>
              <a:t>W0 | Kickoff · tạo tenant · user · lịch training</a:t>
            </a:r>
          </a:p>
          <a:p>
            <a:pPr>
              <a:defRPr sz="1500"/>
            </a:pPr>
            <a:r>
              <a:t>W1 | Migrate danh mục · NCC · cấu hình kho/chi nhánh</a:t>
            </a:r>
          </a:p>
          <a:p>
            <a:pPr>
              <a:defRPr sz="1500"/>
            </a:pPr>
            <a:r>
              <a:t>W2 | Tồn đầu kỳ theo lô · đối soát ký với chủ NT</a:t>
            </a:r>
          </a:p>
          <a:p>
            <a:pPr>
              <a:defRPr sz="1500"/>
            </a:pPr>
            <a:r>
              <a:t>W3 | Training admin + POS + kiểm kê / app (nếu dùng)</a:t>
            </a:r>
          </a:p>
          <a:p>
            <a:pPr>
              <a:defRPr sz="1500"/>
            </a:pPr>
            <a:r>
              <a:t>W4 | Go-live bán thật · hypercare 14 ngày</a:t>
            </a:r>
          </a:p>
          <a:p>
            <a:pPr>
              <a:defRPr sz="1500"/>
            </a:pPr>
            <a:r>
              <a:t>URL: `admin.novixa.vn` · `app.novixa.vn` · `pos.novixa.vn`</a:t>
            </a:r>
          </a:p>
          <a:p>
            <a:pPr>
              <a:defRPr sz="1500"/>
            </a:pPr>
            <a:r>
              <a:t>Migrate founding: miễn phí khi tham gia case study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Founding Early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Vận hành thật — mức ưu đãi có giới hạn — đổi lại phản hồi &amp; case study</a:t>
            </a:r>
          </a:p>
          <a:p>
            <a:pPr>
              <a:defRPr sz="1500"/>
            </a:pPr>
            <a:r>
              <a:t>299.000đ / tháng × 4 tháng đầu</a:t>
            </a:r>
          </a:p>
          <a:p>
            <a:pPr>
              <a:defRPr sz="1500"/>
            </a:pPr>
            <a:r>
              <a:t>Full Phase 1 — toàn bộ module slide 10–19 (POS, kho, mua, app, báo cáo…)</a:t>
            </a:r>
          </a:p>
          <a:p>
            <a:pPr>
              <a:defRPr sz="1500"/>
            </a:pPr>
            <a:r>
              <a:t>Migrate danh mục + tồn đầu + training 3 buổi (case study)</a:t>
            </a:r>
          </a:p>
          <a:p>
            <a:pPr>
              <a:defRPr sz="1500"/>
            </a:pPr>
            <a:r>
              <a:t>Hợp đồng tối thiểu 6 tháng — đủ thời gian đo hiệu quả thật</a:t>
            </a:r>
          </a:p>
          <a:p>
            <a:pPr>
              <a:defRPr sz="1500"/>
            </a:pPr>
            <a:r>
              <a:t>~2 slot / tháng — hỗ trợ sát từng NT</a:t>
            </a:r>
          </a:p>
          <a:p>
            <a:pPr>
              <a:defRPr sz="1500"/>
            </a:pPr>
            <a:r>
              <a:t>Không phải: trial 14 ngày · demo giả · tự migrate không hỗ trợ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sau founding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Mốc | Điều gì xảy ra</a:t>
            </a:r>
          </a:p>
          <a:p>
            <a:pPr>
              <a:defRPr sz="1500"/>
            </a:pPr>
            <a:r>
              <a:t>Tháng 1–4 | 299k/th · vận hành đầy đủ Phase 1</a:t>
            </a:r>
          </a:p>
          <a:p>
            <a:pPr>
              <a:defRPr sz="1500"/>
            </a:pPr>
            <a:r>
              <a:t>Tháng 3 | Novixa gửi báo cáo sử dụng — module nào active, gợi ý gói</a:t>
            </a:r>
          </a:p>
          <a:p>
            <a:pPr>
              <a:defRPr sz="1500"/>
            </a:pPr>
            <a:r>
              <a:t>Tháng 5 | Chốt gói Core / Growth / Chain — có xác nhận trước khi đổi giá</a:t>
            </a:r>
          </a:p>
          <a:p>
            <a:pPr>
              <a:defRPr sz="1500"/>
            </a:pPr>
            <a:r>
              <a:t>Sau đó | Giá theo catalog đã thống nhất khi ký phụ lục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Quy trình bắt đầu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CTA ngay hôm nay</a:t>
            </a:r>
          </a:p>
          <a:p>
            <a:pPr>
              <a:defRPr sz="1500"/>
            </a:pPr>
            <a:r>
              <a:t>Liên hệ / Demo → Khảo sát ICP → Ký Founding</a:t>
            </a:r>
          </a:p>
          <a:p>
            <a:pPr>
              <a:defRPr sz="1500"/>
            </a:pPr>
            <a:r>
              <a:t>→ Onboard 4 tuần → Go-live POS → Hypercare → Case study (tuỳ chọn)</a:t>
            </a:r>
          </a:p>
          <a:p>
            <a:pPr>
              <a:defRPr sz="1500"/>
            </a:pPr>
            <a:r>
              <a:t>Đăng ký: novixa.vn/vi/lien-he — ghi FOUNDING trong tin nhắn</a:t>
            </a:r>
          </a:p>
          <a:p>
            <a:pPr>
              <a:defRPr sz="1500"/>
            </a:pPr>
            <a:r>
              <a:t>Hoặc chốt lịch demo sâu module khách quan tâm nhất (kho / O2O / POS)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FAQ mở rộng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Câu hỏi | Trả lời chi tiết</a:t>
            </a:r>
          </a:p>
          <a:p>
            <a:pPr>
              <a:defRPr sz="1300"/>
            </a:pPr>
            <a:r>
              <a:t>Khác POS XXX? | XXX = thu ngân; Novixa = ERP + lô + khách + chuỗi — ROI giảm thất thoát &amp; hủy date</a:t>
            </a:r>
          </a:p>
          <a:p>
            <a:pPr>
              <a:defRPr sz="1500"/>
            </a:pPr>
            <a:r>
              <a:t>Có HĐĐT? | Phase 2 roadmap; Phase 1 có VAT cơ bản trên GRN</a:t>
            </a:r>
          </a:p>
          <a:p>
            <a:pPr>
              <a:defRPr sz="1500"/>
            </a:pPr>
            <a:r>
              <a:t>Migrate mất bao lâu? | Danh mục 3–7 ngày; tồn lô 3–7 ngày; go-live ~4 tuần</a:t>
            </a:r>
          </a:p>
          <a:p>
            <a:pPr>
              <a:defRPr sz="1500"/>
            </a:pPr>
            <a:r>
              <a:t>Cần internet? | SaaS cloud — cần mạng ổn định tại quầy; offline mode roadmap</a:t>
            </a:r>
          </a:p>
          <a:p>
            <a:pPr>
              <a:defRPr sz="1500"/>
            </a:pPr>
            <a:r>
              <a:t>Dữ liệu ai sở hữu? | Khách hàng — Novixa host &amp; bảo mật theo HĐ</a:t>
            </a:r>
          </a:p>
          <a:p>
            <a:pPr>
              <a:defRPr sz="1500"/>
            </a:pPr>
            <a:r>
              <a:t>Train ai? | Chủ/quản lý + thu ngân + (tuỳ chọn) app khách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 kết đồng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500"/>
            </a:pPr>
            <a:r>
              <a:t>Novixa Founding = partnership, không chỉ license</a:t>
            </a:r>
          </a:p>
          <a:p>
            <a:pPr>
              <a:defRPr sz="1500"/>
            </a:pPr>
            <a:r>
              <a:t>Đội product xây từ nghiệp vụ nhà thuốc VN — PharmaCore ERP lõi</a:t>
            </a:r>
          </a:p>
          <a:p>
            <a:pPr>
              <a:defRPr sz="1500"/>
            </a:pPr>
            <a:r>
              <a:t>Founding customer ưu tiên hỗ trợ &amp; ảnh hưởng roadmap Phase 2</a:t>
            </a:r>
          </a:p>
          <a:p>
            <a:pPr>
              <a:defRPr sz="1500"/>
            </a:pPr>
            <a:r>
              <a:t>Truth in product — không marketing vượt tính năng thật</a:t>
            </a:r>
          </a:p>
          <a:p>
            <a:pPr>
              <a:defRPr sz="1500"/>
            </a:pPr>
            <a:r>
              <a:t>Mục tiêu chung: vận hành đúng lô, đúng tồn, khách quay lại, scale chuỗi an toàn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Liên hệ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Novixa · Smart Pharmacy Solutions</a:t>
            </a:r>
          </a:p>
          <a:p>
            <a:pPr>
              <a:defRPr sz="1500"/>
            </a:pPr>
            <a:r>
              <a:t>novixa.vn</a:t>
            </a:r>
          </a:p>
          <a:p>
            <a:pPr>
              <a:defRPr sz="1500"/>
            </a:pPr>
            <a:r>
              <a:t>[Roadmap] Form liên hệ — ghi FOUNDING để ưu tiên slot</a:t>
            </a:r>
          </a:p>
          <a:p>
            <a:pPr>
              <a:defRPr sz="1500"/>
            </a:pPr>
            <a:r>
              <a:t>Demo follow-up: gửi kèm deck + checklist go-live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