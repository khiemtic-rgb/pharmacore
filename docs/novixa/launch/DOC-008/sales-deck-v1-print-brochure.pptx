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2/30</a:t>
            </a:r>
          </a:p>
          <a:p/>
          <a:p>
            <a:r>
              <a:t>Thời lượng ~45–60 phút gồm demo live. Slide 3–8: pain; 9–26: product; 27–32: commercial.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3/30</a:t>
            </a:r>
          </a:p>
          <a:p/>
          <a:p>
            <a:r>
              <a:t>Hỏi khách: Anh/chị đang mất nhiều thời gian nhất ở khâu nào — tồn, nhập hàng, hay khách quay lại?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4/30</a:t>
            </a:r>
          </a:p>
          <a:p/>
          <a:p>
            <a:r>
              <a:t>Mục tiêu slide: khách gật đầu “đúng pain của tôi” trước khi giới thiệu Novixa.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5/30</a:t>
            </a:r>
          </a:p>
          <a:p/>
          <a:p>
            <a:r>
              <a:t>Không cần số % tuyệt đối — dùng ví dụ từ pain khách vừa chia sẻ.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6/30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7/30</a:t>
            </a:r>
          </a:p>
          <a:p/>
          <a:p>
            <a:r>
              <a:t>Vẽ tay hoặc dùng sơ đồ 4 khối. Nhấn mạnh: khách và chủ NT chỉ cần nhớ admin + app + quầy.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8/30</a:t>
            </a:r>
          </a:p>
          <a:p/>
          <a:p>
            <a:r>
              <a:t>Đây là “story xương sống” cho demo. Mỗi bước tương ứng 1–2 màn hình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9/30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10/30</a:t>
            </a:r>
          </a:p>
          <a:p/>
          <a:p>
            <a:r>
              <a:t>Demo: Product list + import template + 1 sản phẩm có barcode.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11/30</a:t>
            </a:r>
          </a:p>
          <a:p/>
          <a:p>
            <a:r>
              <a:t>Demo: PO → GRN → kiểm tra tồn lô tăng.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12/30</a:t>
            </a:r>
          </a:p>
          <a:p/>
          <a:p>
            <a:r>
              <a:t>Demo: Stock by batch + báo cáo INV-02 cận date.</a:t>
            </a:r>
          </a:p>
          <a:p/>
          <a:p>
            <a:r>
              <a:t>Thêm:</a:t>
            </a:r>
          </a:p>
          <a:p>
            <a:r>
              <a:t>Giá trị: Trả lời được 3 câu hỏi mỗi sáng: Còn bao nhiêu? Lô nào? Hết hạn khi nào?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13/30</a:t>
            </a:r>
          </a:p>
          <a:p/>
          <a:p>
            <a:r>
              <a:t>Demo: Mở ca → 1 đơn 2–3 SP → xem lô xuất → in bill.</a:t>
            </a:r>
          </a:p>
          <a:p/>
          <a:p>
            <a:r>
              <a:t>Thêm:</a:t>
            </a:r>
          </a:p>
          <a:p>
            <a:r>
              <a:t>Giá trị: Thu ngân thao tác nhanh; chủ NT yên tâm vì mỗi đơn gắn biến động kho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14/30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15/30</a:t>
            </a:r>
          </a:p>
          <a:p/>
          <a:p>
            <a:r>
              <a:t>Demo: 1 khách có điểm → POS đổi điểm.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16/30</a:t>
            </a:r>
          </a:p>
          <a:p/>
          <a:p>
            <a:r>
              <a:t>Demo: OTP login → home điểm → tạo đơn nháp → admin xử lý O2O.</a:t>
            </a:r>
          </a:p>
          <a:p/>
          <a:p>
            <a:r>
              <a:t>Thêm:</a:t>
            </a:r>
          </a:p>
          <a:p>
            <a:r>
              <a:t>Health wallet / Gia đình — hồ sơ mở rộng (consent rõ ràng)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17/30</a:t>
            </a:r>
          </a:p>
          <a:p/>
          <a:p>
            <a:r>
              <a:t>Câu chuyện bán: NT có fanpage/Zalo order — O2O formalize quy trình đó.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18/30</a:t>
            </a:r>
          </a:p>
          <a:p/>
          <a:p>
            <a:r>
              <a:t>Không gọi là “BI enterprise” — đúng scope Phase 1, đủ cho chủ NT 1–10 cửa.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19/30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20/30</a:t>
            </a:r>
          </a:p>
          <a:p/>
          <a:p>
            <a:r>
              <a:t>Reframe: so sánh category, không so sánh một dòng giá 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21/30</a:t>
            </a:r>
          </a:p>
          <a:p/>
          <a:p>
            <a:r>
              <a:t>Trả lời objection “cloud có an toàn không” — nhấn isolation + HTTPS +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22/30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23/30</a:t>
            </a:r>
          </a:p>
          <a:p/>
          <a:p>
            <a:r>
              <a:t>Cam kết founding = full Phase 1. Không hứa Phase 2 trong founding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24/30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25/30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26/30</a:t>
            </a:r>
          </a:p>
          <a:p/>
          <a:p>
            <a:r>
              <a:t>Thông điệp: founding là đầu tư lộ trình, không phải “lock-in giá cao bất ngờ”.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27/30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28/30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29/30</a:t>
            </a:r>
          </a:p>
          <a:p/>
          <a:p>
            <a:r>
              <a:t>Chốt cảm xúc trước slide contact.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30/30</a:t>
            </a:r>
          </a:p>
          <a:p/>
          <a:p>
            <a:r>
              <a:t>Cảm ơn thời gian của anh/chị. Bước tiếp theo: khảo sát 15 phút hoặc lịch demo module sâu.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502920"/>
            <a:ext cx="1234440" cy="1234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659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Smart Pharmacy Solutions · Giải pháp dược thông minh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BFDBFE"/>
                </a:solidFill>
              </a:defRPr>
            </a:pPr>
            <a:r>
              <a:t>ERP + POS + Kho lô FEFO + CRM + App khách + Báo cáo — trên một hệ dữ liệu</a:t>
            </a:r>
          </a:p>
          <a:p>
            <a:pPr>
              <a:spcAft>
                <a:spcPts val="400"/>
              </a:spcAft>
              <a:defRPr sz="1600">
                <a:solidFill>
                  <a:srgbClr val="BFDBFE"/>
                </a:solidFill>
              </a:defRPr>
            </a:pPr>
            <a:r>
              <a:t>Founding Early Access 2026 · novixa.vn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4924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86EFAC"/>
                </a:solidFill>
              </a:defRPr>
            </a:pPr>
            <a:r>
              <a:t>Hotline 0984.660.399  ·  khiemtic@gmail.com</a:t>
            </a:r>
          </a:p>
          <a:p>
            <a:pPr>
              <a:spcAft>
                <a:spcPts val="400"/>
              </a:spcAft>
              <a:defRPr sz="1200">
                <a:solidFill>
                  <a:srgbClr val="86EFAC"/>
                </a:solidFill>
              </a:defRPr>
            </a:pPr>
            <a:r>
              <a:t>KĐT Hồ Xương Rồng, phường Phan Đình Phùng, tỉnh Thái Nguyên</a:t>
            </a:r>
          </a:p>
          <a:p>
            <a:pPr>
              <a:spcAft>
                <a:spcPts val="400"/>
              </a:spcAft>
              <a:defRPr sz="1200">
                <a:solidFill>
                  <a:srgbClr val="86EFAC"/>
                </a:solidFill>
              </a:defRPr>
            </a:pPr>
            <a:r>
              <a:t>www.novixa.vn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2/30 — Nội dung buổi trình bày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Hôm nay chúng ta trao đổi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Bài toán vận hành nhà thuốc GPP hiện nay — vì sao Excel + POS rẻ không đủ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Novixa Platform — kiến trúc giải pháp và luồng dữ liệu end-to-end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Chi tiết 6 trụ cột sản phẩm: Danh mục · Mua hàng · Kho lô · POS · Khách hàng · Báo cáo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App khách &amp; O2O — kết nối quầy bán với khách hàng trung thành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Triển khai SaaS, bảo mật, hỗ trợ GPP vận hành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Founding Early Access — cách đồng hành go-live thật tại quầy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3/30 — Bức tranh vận hành hiện tại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Nhà thuốc GPP đang chạy bằng 3–5 công cụ rời nhau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POS quầy — chỉ biết doanh thu ca, không biết tồn lô còn bao nhiêu ở kho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Excel / sổ giấy — tồn đầu, công nợ NCC, danh sách cận date cập nhật thủ công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Zalo / SĐT — đặt hàng, hỏi thuốc, không gắn với tồn và lịch sử mua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Báo cáo cuối tháng — tổng hợp chậm, khó biết hôm nay nên nhập gì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Hệ quả: Dược sĩ và chủ NT mất thời gian đối soát thay vì quản lý chuyên môn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4/30 — Pain cụ thể tại quầy và kho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Những tình huống vẫn xảy ra khi thiếu hệ thống thống nhất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Bán nhầm lô — lô cận date còn trong kho nhưng quầy không thấy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Không truy vết được lô đã bán khi cần đối chiếu NCC hoặc kiểm tra nội bộ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Nhập hàng không khớp GRN thực tế — chênh lệch phát hiện muộn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Hàng chết ở kho — không có cảnh báo HSD sớm, lãng phí vốn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Chuỗi 2–3 cửa — không so sánh doanh thu / tồn giữa các quầy trong ngày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5/30 — Chi phí ẩn nếu không thay đổi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Không chỉ là “phần mềm đắt hay rẻ” — mà là chi phí vận hành mỗi tháng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Pain | Biểu hiện | Hướng tác động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Thất thoát tồn | Xuất nhập không khớp lô | % doanh thu mất hàng tháng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Hủy cận date | Không FEFO, không cảnh báo | Vốn + thời gian xử lý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Nhập sai / thiếu | Quyết định mua bằng cảm giác | Thiếu hàng hot, dư hàng chậm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Mất khách | Không CRM, không nhắc tái mua | Doanh thu lặp lại thấp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Mở rộng chuỗi chậm | Mỗi cửa một cách làm | Không scale được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6/30 — Novixa giải quyết ở tầng nào?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Novixa không thay POS thu ngân — Novixa thay “cách quản trị toàn nhà thuốc”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Một database nghiệp vụ — mua, tồn, bán, khách, báo cáo cùng nguồn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Thiết kế cho GPP vận hành — lô, HSD, FEFO, kiểm kê, audit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Quầy bán nhanh — POS tích hợp sẵn kho lô, không nhập tồn tay sau ca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Mở rộng O2O — app khách, đặt trước, loyalty gắn trực tiếp quầy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SaaS cloud — không cài server tại quầy, cập nhật tập trung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Phân loại: ERP nhà thuốc · Không phải phần mềm kế toán thay thế · Không phải tư vấn y khoa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7/30 — Kiến trúc Novixa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4 lớp — 1 nền tảng PharmaCore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Lớp trải nghiệm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- Admin Web (`admin.novixa.vn`) — quản lý, mua hàng, kho, CRM, báo cáo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- POS Desktop / POS route (`pos.novixa.vn`) — thu ngân tại quầy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- Staff App (mobile) — bán hàng, tra tồn, O2O khi di chuyển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- Customer App (`app.novixa.vn`) — khách hàng: OTP, điểm, đặt trước, chat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Lớp API — `api.novixa.vn` · multi-tenant · phân quyền RBAC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Lớp dữ liệu — PostgreSQL · `stock_movements` là sổ cái tồn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Marketing — `novixa.vn` tách biệt ERP (bảo mật, cập nhật nội dung độc lập)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8/30 — Luồng dữ liệu end-to-end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5623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Từ lúc hàng về kho đến khi khách quay lại — không đứt gãy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1. Danh mục — mã SP, barcode, đơn vị, giá, hoạt chất, phân loại (catalog không chứa tồn)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2. Mua hàng — PO → GRN → tăng tồn theo lô + HSD + VAT cơ bản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3. Kho — tồn available, chuyển kho, điều chỉnh, kiểm kê có duyệt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4. Bán POS — FEFO xuất lô · ca · thanh toán · in bill · trả hàng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5. Khách hàng — CRM, điểm, voucher, app đặt trước → quầy xử lý O2O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6. Báo cáo — doanh thu, tồn, cận date, công nợ — trong ngày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8" y="868680"/>
            <a:ext cx="5623560" cy="457200"/>
          </a:xfrm>
          <a:prstGeom prst="rect">
            <a:avLst/>
          </a:prstGeom>
          <a:solidFill>
            <a:srgbClr val="ECFDF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defRPr sz="1000" b="1">
                <a:solidFill>
                  <a:srgbClr val="05461A"/>
                </a:solidFill>
              </a:defRPr>
            </a:pPr>
            <a:r>
              <a:t>Nhìn vào màn hình: Doanh thu hôm nay (triệu VND) · biểu đồ 7 ngày · số đơn · cảnh báo cận date/tồn thấp — mở admin là thấy ngay tình hình quầy.</a:t>
            </a:r>
          </a:p>
        </p:txBody>
      </p:sp>
      <p:pic>
        <p:nvPicPr>
          <p:cNvPr id="6" name="Picture 5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389887"/>
            <a:ext cx="5623560" cy="3514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44768" y="5093207"/>
            <a:ext cx="5623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</a:defRPr>
            </a:pPr>
            <a:r>
              <a:t>Dashboard tổng quan — Admin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9/30 — Ai phù hợp Novixa?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Ideal Customer Profile — Founding 2026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Rất phù hợp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Nhà thuốc GPP — độc lập hoặc chuỗi 2–10 cửa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Đang dùng Excel + POS hoặc POS không quản lý lô/HSD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Muốn gom quầy + kho + khách trước khi mở thêm chi nhánh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Sẵn sàng migrate + training 4 tuần — chạy thật, không pilot giả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Chưa phù hợp (nói thẳng, giữ quan hệ)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Chỉ cần thu ngân, không quan tâm lô/HSD/FEFO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Kỳ vọng HĐĐT + kế toán thuế đầy đủ ngay (Phase 2 — roadmap)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10/30 — Module 1: Danh mục &amp; Catalog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5623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Nền tảng dữ liệu sản phẩm — sạch, import được, mở rộng chuỗi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Sản phẩm master — mã nội bộ, tên, barcode, đơn vị, nhóm, thương hiệu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Phân loại — danh mục, hoạt chất, tags phục vụ báo cáo doanh thu theo nhóm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Giá bán — theo ngữ cảnh bán; tồn không nằm trong catalog (đúng chuẩn ERP)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Import Excel — migrate nhanh từ file cũ khi onboarding founding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Tra cứu thuốc QG — hỗ trợ tham khảo (mock V1 — live API roadmap)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Giá trị: Một lần chuẩn hóa danh mục → mọi module dùng chung, không duplicate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8" y="868680"/>
            <a:ext cx="5623560" cy="457200"/>
          </a:xfrm>
          <a:prstGeom prst="rect">
            <a:avLst/>
          </a:prstGeom>
          <a:solidFill>
            <a:srgbClr val="ECFDF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defRPr sz="1000" b="1">
                <a:solidFill>
                  <a:srgbClr val="05461A"/>
                </a:solidFill>
              </a:defRPr>
            </a:pPr>
            <a:r>
              <a:t>Nhìn vào màn hình: Cột ảnh sản phẩm · barcode · tên/hoạt chất · giá bán · trạng thái — danh mục sạch, sẵn sàng quét POS và báo cáo theo nhóm.</a:t>
            </a:r>
          </a:p>
        </p:txBody>
      </p:sp>
      <p:pic>
        <p:nvPicPr>
          <p:cNvPr id="6" name="Picture 5" descr="02-catalog-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389887"/>
            <a:ext cx="5623560" cy="3514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44768" y="5093207"/>
            <a:ext cx="5623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</a:defRPr>
            </a:pPr>
            <a:r>
              <a:t>Danh mục sản phẩm — Admin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11/30 — Module 2: Mua hàng (Procurement)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5623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Kiểm soát nguồn hàng và giá nhập — nền tảng tồn kho chính xác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Nhà cung cấp (NCC) — hồ sơ, điều khoản, lịch sử mua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Đơn đặt hàng (PO) — đặt hàng theo nhu cầu / tồn thấp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Nhập kho (GRN) — nhận hàng thực tế, số lô, HSD, số lượng, giá nhập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Thuế GTGT cơ bản trên chứng từ mua (Phase 1 — cấu hình VAT treatment)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Công nợ NCC (AP) — theo dõi phải trả, lịch thanh toán NCC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Giá trị: Mỗi lô hàng trong kho đều truy vết được từ GRN — phục vụ GPP và đối soát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8" y="868680"/>
            <a:ext cx="5623560" cy="457200"/>
          </a:xfrm>
          <a:prstGeom prst="rect">
            <a:avLst/>
          </a:prstGeom>
          <a:solidFill>
            <a:srgbClr val="ECFDF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defRPr sz="1000" b="1">
                <a:solidFill>
                  <a:srgbClr val="05461A"/>
                </a:solidFill>
              </a:defRPr>
            </a:pPr>
            <a:r>
              <a:t>Nhìn vào màn hình: Phiếu nhập kho (GRN) gắn NCC · số lô · HSD · số lượng · giá nhập — mỗi lần nhận hàng là tăng tồn đúng lô.</a:t>
            </a:r>
          </a:p>
        </p:txBody>
      </p:sp>
      <p:pic>
        <p:nvPicPr>
          <p:cNvPr id="6" name="Picture 5" descr="03-procurement-g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389887"/>
            <a:ext cx="5623560" cy="3514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44768" y="5093207"/>
            <a:ext cx="5623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</a:defRPr>
            </a:pPr>
            <a:r>
              <a:t>Nhập kho GRN — Admin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12/30 — Module 3: Kho &amp; Tồn lô (FEFO)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5623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Trái tim của Novixa — tồn theo lô, HSD, và sổ cái minh bạch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Batch / lô — mỗi lô: số lô, HSD, số lượng, kho, chi nhánh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FEFO khi bán — hệ thống ưu tiên lô hết hạn trước — giảm hủy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Chuyển kho · điều chỉnh — có log; không sửa tồn “im lặng”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Kiểm kê chu kỳ — workflow đếm thực tế → duyệt chênh lệch → điều chỉnh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Cảnh báo — tồn thấp (nhập kịp), cận date / HSD (xử lý sớm)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Nguyên tắc kỹ thuật: `stock_movements` = sổ cái; số tồn hiển thị là cache tính toán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8" y="868680"/>
            <a:ext cx="5623560" cy="457200"/>
          </a:xfrm>
          <a:prstGeom prst="rect">
            <a:avLst/>
          </a:prstGeom>
          <a:solidFill>
            <a:srgbClr val="ECFDF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defRPr sz="1000" b="1">
                <a:solidFill>
                  <a:srgbClr val="05461A"/>
                </a:solidFill>
              </a:defRPr>
            </a:pPr>
            <a:r>
              <a:t>Nhìn vào màn hình: Tồn theo lô/FEFO · số lượng khả dụng · ngày hết hạn · kho — biết ngay lô nào cần xuất trước.</a:t>
            </a:r>
          </a:p>
        </p:txBody>
      </p:sp>
      <p:pic>
        <p:nvPicPr>
          <p:cNvPr id="6" name="Picture 5" descr="04-inventory-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389887"/>
            <a:ext cx="5623560" cy="3514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44768" y="5093207"/>
            <a:ext cx="5623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</a:defRPr>
            </a:pPr>
            <a:r>
              <a:t>Tồn kho theo lô — Admin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13/30 — Module 4: Bán hàng POS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5623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Quầy nhanh — nhưng không hy sinh kiểm soát lô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Mở ca / đóng ca — giao ca rõ ràng, báo cáo ca SALES-03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Bán hàng — quét barcode, tìm nhanh, chiết khấu dòng/đơn, đa hình thức TT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FEFO tự động — xuất đúng lô; cấu hình gợi ý lô hoặc bắt buộc chọn lô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In bill nhiệt — cài đặt receipt theo nhà thuốc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Trả hàng — hoàn tồn đúng lô, đúng audit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Đơn nháp — giữ đơn khi khách quay lại lấy thuốc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8" y="868680"/>
            <a:ext cx="5623560" cy="457200"/>
          </a:xfrm>
          <a:prstGeom prst="rect">
            <a:avLst/>
          </a:prstGeom>
          <a:solidFill>
            <a:srgbClr val="ECFDF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defRPr sz="1000" b="1">
                <a:solidFill>
                  <a:srgbClr val="05461A"/>
                </a:solidFill>
              </a:defRPr>
            </a:pPr>
            <a:r>
              <a:t>Nhìn vào màn hình: Quét barcode · giỏ hàng · tổng tiền · ca làm việc — bán nhanh nhưng vẫn trừ đúng lô tồn.</a:t>
            </a:r>
          </a:p>
        </p:txBody>
      </p:sp>
      <p:pic>
        <p:nvPicPr>
          <p:cNvPr id="6" name="Picture 5" descr="05-sales-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389887"/>
            <a:ext cx="5623560" cy="3514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44768" y="5093207"/>
            <a:ext cx="5623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</a:defRPr>
            </a:pPr>
            <a:r>
              <a:t>POS quầy bán — Admin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14/30 — Staff App — POS di động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5623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Dược sĩ / thu ngân không bị “khóa” tại một máy tính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POS mobile — bán hàng ngay trên điện thoại / tablet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Tra tồn nhanh — kiểm tra lô/HSD trước khi hứa khách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Ca &amp; doanh thu ngày — tóm tắt ca làm việc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Trả hàng — xử lý tại quầy phụ / khi đi giao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O2O hỗ trợ — xem đơn app khách, chat khi cần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Giá trị: Phù hợp quầy nhỏ, bán thêm tại kho, hoặc chủ duyệt nhanh trên mobile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8" y="868680"/>
            <a:ext cx="5623560" cy="457200"/>
          </a:xfrm>
          <a:prstGeom prst="rect">
            <a:avLst/>
          </a:prstGeom>
          <a:solidFill>
            <a:srgbClr val="ECFDF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defRPr sz="1000" b="1">
                <a:solidFill>
                  <a:srgbClr val="05461A"/>
                </a:solidFill>
              </a:defRPr>
            </a:pPr>
            <a:r>
              <a:t>Nhìn vào màn hình: Giao diện POS trên điện thoại — bán hàng, tra tồn, ca làm việc ngay tại quầy.</a:t>
            </a:r>
          </a:p>
        </p:txBody>
      </p:sp>
      <p:pic>
        <p:nvPicPr>
          <p:cNvPr id="6" name="Picture 5" descr="10-staff-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389887"/>
            <a:ext cx="5623560" cy="121699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44768" y="5093207"/>
            <a:ext cx="5623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</a:defRPr>
            </a:pPr>
            <a:r>
              <a:t>Staff POS mobile — Staff 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15/30 — Module 5: CRM &amp; Khách hàng (Admin)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5623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Biết khách là ai — không chỉ biết doanh thu ca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Hồ sơ khách — SĐT, lịch sử mua, phân khúc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Loyalty — tích điểm, đổi điểm, voucher khuyến mại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Công nợ KH (Receivables) — bán chịu có kiểm soát, thu nợ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Engagement — nền tảng chăm sóc có consent, audit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Đồng bộ với POS — quét SĐT tại quầy → tích/đổi điểm ngay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Giá trị: Chuyển từ “bán vãng lai” sang khách quay lại có dữ liệu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8" y="868680"/>
            <a:ext cx="5623560" cy="457200"/>
          </a:xfrm>
          <a:prstGeom prst="rect">
            <a:avLst/>
          </a:prstGeom>
          <a:solidFill>
            <a:srgbClr val="ECFDF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defRPr sz="1000" b="1">
                <a:solidFill>
                  <a:srgbClr val="05461A"/>
                </a:solidFill>
              </a:defRPr>
            </a:pPr>
            <a:r>
              <a:t>Nhìn vào màn hình: Danh sách khách · SĐT · lịch sử · điểm tích lũy — CRM gắn trực tiếp quầy POS.</a:t>
            </a:r>
          </a:p>
        </p:txBody>
      </p:sp>
      <p:pic>
        <p:nvPicPr>
          <p:cNvPr id="6" name="Picture 5" descr="06-customer-c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389887"/>
            <a:ext cx="5623560" cy="3514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44768" y="5093207"/>
            <a:ext cx="5623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</a:defRPr>
            </a:pPr>
            <a:r>
              <a:t>CRM khách hàng — Admin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16/30 — Novixa Care: App khách hàng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5623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Ứng dụng riêng cho khách nhà thuốc — gắn chặt quầy bán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Đăng nhập OTP theo SĐT — xác thực khách thật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Tích điểm / voucher — xem ưu đãi, lịch sử điểm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Nhắc uống thuốc (Reminders) — tái mua có chủ đích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Đơn nháp O2O — khách chọn SP → quầy xác nhận &amp; bán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Giữ hàng (Reservations) — giữ tồn cho khách quen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Chat dược sĩ — có consent; không thay tư vấn y khoa tại quầy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8" y="868680"/>
            <a:ext cx="5623560" cy="457200"/>
          </a:xfrm>
          <a:prstGeom prst="rect">
            <a:avLst/>
          </a:prstGeom>
          <a:solidFill>
            <a:srgbClr val="ECFDF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defRPr sz="1000" b="1">
                <a:solidFill>
                  <a:srgbClr val="05461A"/>
                </a:solidFill>
              </a:defRPr>
            </a:pPr>
            <a:r>
              <a:t>Nhìn vào màn hình: App riêng cho khách — điểm thưởng, đơn đặt, nhắc uống thuốc; khách tự phục vụ, quầy xử lý O2O.</a:t>
            </a:r>
          </a:p>
        </p:txBody>
      </p:sp>
      <p:pic>
        <p:nvPicPr>
          <p:cNvPr id="6" name="Picture 5" descr="09-customer-app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389887"/>
            <a:ext cx="5623560" cy="121699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44768" y="5093207"/>
            <a:ext cx="5623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</a:defRPr>
            </a:pPr>
            <a:r>
              <a:t>App khách — Trang chủ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17/30 — O2O: Online to Offline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5623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Khách đặt trên app — dược sĩ bán tại quầy — một nguồn tồn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1. Khách đăng nhập app → chọn sản phẩm → gửi đơn nháp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2. Quầy nhận thông báo trên Admin / Staff app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3. Dược sĩ kiểm tra tồn lô → gọi xác nhận nếu cần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4. Chốt POS — trừ tồn FEFO, tích điểm, in bill khi khách đến lấy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5. Lịch sử đơn lưu CRM — phục vụ tái mua / nhắc uống thuốc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Giá trị: Kênh online không tách khỏi kho thật — tránh bán ảo, hết hàng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8" y="868680"/>
            <a:ext cx="5623560" cy="457200"/>
          </a:xfrm>
          <a:prstGeom prst="rect">
            <a:avLst/>
          </a:prstGeom>
          <a:solidFill>
            <a:srgbClr val="ECFDF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defRPr sz="1000" b="1">
                <a:solidFill>
                  <a:srgbClr val="05461A"/>
                </a:solidFill>
              </a:defRPr>
            </a:pPr>
            <a:r>
              <a:t>Nhìn vào màn hình: Đơn khách gửi từ app · trạng thái chờ xử lý · quầy xác nhận và chốt POS cùng nguồn tồn.</a:t>
            </a:r>
          </a:p>
        </p:txBody>
      </p:sp>
      <p:pic>
        <p:nvPicPr>
          <p:cNvPr id="6" name="Picture 5" descr="07-o2o-draf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389887"/>
            <a:ext cx="5623560" cy="3514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44768" y="5093207"/>
            <a:ext cx="5623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</a:defRPr>
            </a:pPr>
            <a:r>
              <a:t>Đơn app khách O2O — Admin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18/30 — Báo cáo Wave 1 — Quản trị trong ngày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5623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9 báo cáo sẵn có — không chờ cuối tháng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Sales: SALES-01 Doanh thu theo thời gian · SALES-02 theo hình thức TT · SALES-03 Báo cáo ca · SALES-04 Doanh thu theo danh mục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Procurement: PROC-01 Giá trị nhập GRN · PROC-03 Công nợ NCC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Inventory: INV-01 Tồn hiện tại · INV-02 Hàng cận date/HSD · INV-03 Tóm tắt xuất nhập tồn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Xuất CSV · in màn hình · lọc theo chi nhánh / thời gian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Dashboard tổng quan — KPI mở đầu ngày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8" y="868680"/>
            <a:ext cx="5623560" cy="457200"/>
          </a:xfrm>
          <a:prstGeom prst="rect">
            <a:avLst/>
          </a:prstGeom>
          <a:solidFill>
            <a:srgbClr val="ECFDF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/>
          <a:lstStyle/>
          <a:p>
            <a:pPr algn="ctr">
              <a:defRPr sz="1000" b="1">
                <a:solidFill>
                  <a:srgbClr val="05461A"/>
                </a:solidFill>
              </a:defRPr>
            </a:pPr>
            <a:r>
              <a:t>Nhìn vào màn hình: 9 báo cáo sẵn có — doanh thu, tồn, cận date, công nợ; xuất CSV/in màn hình trong ngày.</a:t>
            </a:r>
          </a:p>
        </p:txBody>
      </p:sp>
      <p:pic>
        <p:nvPicPr>
          <p:cNvPr id="6" name="Picture 5" descr="08-reports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389887"/>
            <a:ext cx="5623560" cy="3514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44768" y="5093207"/>
            <a:ext cx="5623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748B"/>
                </a:solidFill>
              </a:defRPr>
            </a:pPr>
            <a:r>
              <a:t>Báo cáo Wave 1 — Admin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19/30 — Dashboard &amp; vận hành đa chi nhánh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Một tài khoản — nhiều quầy — một sự thật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Dashboard — doanh thu, xu hướng, KPI tổng quan khi mở admin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Chi nhánh / kho — phân tách dữ liệu theo cửa, tổng hợp khi cần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Phân quyền RBAC — thu ngân ≠ sửa giá ≠ duyệt kiểm kê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Audit log — truy vết thao tác quan trọng trên hệ thống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Cài đặt — bill, loyalty, app khách, receipt — theo từng nhà thuốc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Giá trị chuỗi nhỏ: Mở cửa thứ 2 không có nghĩa là thêm một “Excel mới”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20/30 — So sánh: Novixa vs POS rẻ / Excel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Tiêu chí | Novixa ERP | POS rẻ / Excel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Mục đích | Quản trị toàn NT | Thu ngân / bảng tính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Tồn theo lô &amp; HSD | Native FEFO | / thủ công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Mua hàng → GRN → tồn | Một luồng | Tách rời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Kiểm kê có duyệt | Workflow | Khó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App khách + O2O | Gắn quầy | 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Loyalty tại POS |  | Hạn chế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Báo cáo tồn + cận date | 9 báo cáo | Trễ / manual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Scale 2–10 cửa | Multi-branch | Rối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Giá | Premium ERP | Thấp hơn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21/30 — Bảo mật &amp; SaaS Multi-tenant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Cloud — nhưng dữ liệu từng nhà thuốc được cách ly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HTTPS end-to-end · hosting VPS/cloud có SSL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Tenant isolation — mỗi NT một `tenant_id`; JWT mang context tenant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Đăng nhập admin — Mã nhà thuốc + user + mật khẩu + phân quyền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Marketing site tách ERP — `novixa.vn` không truy cập DB nghiệp vụ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Backup DB hàng ngày · kế hoạch restore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Không bán dữ liệu khách · consent app theo cấu hình tenant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22/30 — GPP: Novixa hỗ trợ vận hành thế nào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Phần mềm quản lý — đồng hành tinh thần GPP, không thay trách nhiệm pháp lý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Hỗ trợ ghi nhận &amp; truy vết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Nhập hàng có lô/HSD · bán FEFO · kiểm kê · audit · cảnh báo cận date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Novixa không thay thế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Trách nhiệm đạt chuẩn GPP · bảo quản vật lý · kê đơn / tư vấn y khoa tại quầy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Thông điệp sales: “Novixa giúp anh/chị  chứng minh quy trình bằng dữ liệu — còn chuyên môn vẫn ở dược sĩ.”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23/30 — Phase 1 (V1) vs Phase 2 (Roadmap)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Nói thật — xây niềm tin dài hạn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Hạng mục | Phase 1 — có sẵn | Phase 2 — roadmap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POS, kho lô, GRN, kiểm kê | 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App khách, loyalty, O2O, chat | 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CRM, công nợ KH/NCC | 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Báo cáo Wave 1 (9) | 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VAT cơ bản trên mua hàng |  | Báo cáo thuế sâu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Hóa đơn điện tử | 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CSDL thuốc QG live | Mock | Live API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AI copilot | Rule-based | Mở rộng 2026+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24/30 — Triển khai &amp; onboarding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Không “giao license tự cài” — đồng hành go-live ~4 tuần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Tuần | Việc chính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W0 | Kickoff · tạo tenant · user · lịch training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W1 | Migrate danh mục · NCC · cấu hình kho/chi nhánh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W2 | Tồn đầu kỳ theo lô · đối soát ký với chủ NT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W3 | Training admin + POS + kiểm kê / app (nếu dùng)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W4 | Go-live bán thật · hypercare 14 ngày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URL: `admin.novixa.vn` · `app.novixa.vn` · `pos.novixa.vn`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Migrate founding: miễn phí khi tham gia case study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25/30 — Founding Early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Vận hành thật — mức ưu đãi có giới hạn — đổi lại phản hồi &amp; case study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299.000đ / tháng × 4 tháng đầu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Full Phase 1 — toàn bộ module slide 10–19 (POS, kho, mua, app, báo cáo…)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Migrate danh mục + tồn đầu + training 3 buổi (case study)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Hợp đồng tối thiểu 6 tháng — đủ thời gian đo hiệu quả thật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~2 slot / tháng — hỗ trợ sát từng NT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Không phải: trial 14 ngày · demo giả · tự migrate không hỗ trợ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26/30 — Timeline sau founding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Mốc | Điều gì xảy ra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Tháng 1–4 | 299k/th · vận hành đầy đủ Phase 1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Tháng 3 | Novixa gửi báo cáo sử dụng — module nào active, gợi ý gói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Tháng 5 | Chốt gói Core / Growth / Chain — có xác nhận trước khi đổi giá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Sau đó | Giá theo catalog đã thống nhất khi ký phụ lục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27/30 — Quy trình bắt đầu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CTA ngay hôm nay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Liên hệ / Demo → Khảo sát ICP → Ký Founding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→ Onboard 4 tuần → Go-live POS → Hypercare → Case study (tuỳ chọn)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Đăng ký: novixa.vn/vi/lien-he — ghi FOUNDING trong tin nhắn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Hoặc chốt lịch demo sâu module khách quan tâm nhất (kho / O2O / POS)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28/30 — FAQ mở rộng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Câu hỏi | Trả lời chi tiết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Khác POS XXX? | XXX = thu ngân; Novixa = ERP + lô + khách + chuỗi — ROI giảm thất thoát &amp; hủy date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Có HĐĐT? | Phase 2 roadmap; Phase 1 có VAT cơ bản trên GRN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Migrate mất bao lâu? | Danh mục 3–7 ngày; tồn lô 3–7 ngày; go-live ~4 tuần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Cần internet? | SaaS cloud — cần mạng ổn định tại quầy; offline mode roadmap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Dữ liệu ai sở hữu? | Khách hàng — Novixa host &amp; bảo mật theo HĐ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Train ai? | Chủ/quản lý + thu ngân + (tuỳ chọn) app khách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29/30 — Cam kết đồng hành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Novixa Founding = partnership, không chỉ license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Đội product xây từ nghiệp vụ nhà thuốc VN — PharmaCore ERP lõi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Founding customer ưu tiên hỗ trợ &amp; ảnh hưởng roadmap Phase 2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Truth in product — không marketing vượt tính năng thật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Mục tiêu chung: vận hành đúng lô, đúng tồn, khách quay lại, scale chuỗi an toàn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  Slide 30/30 — Thank you / Liên hệ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Novixa · Hotline 0984.660.399 · khiemtic@gmail.com · KĐT Hồ Xương Rồng, P. Phan Đình Phùng, Thái Nguyên · novixa.vn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Novixa · Smart Pharmacy Solutions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Hotline: 0984.660.399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Email: khiemtic@gmail.com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Địa chỉ: KĐT Hồ Xương Rồng, phường Phan Đình Phùng, tỉnh Thái Nguyên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Website: novixa.vn — ghi FOUNDING khi liên hệ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