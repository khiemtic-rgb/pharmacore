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1/20</a:t>
            </a:r>
          </a:p>
          <a:p/>
          <a:p>
            <a:r>
              <a:t>Nền tảng quản trị nhà thuốc thế hệ mới</a:t>
            </a:r>
          </a:p>
          <a:p>
            <a:r>
              <a:t>Speaker: Không bắt đầu bằng giá — bắt đầu bằng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2/20</a:t>
            </a:r>
          </a:p>
          <a:p/>
          <a:p>
            <a:r>
              <a:t>Hỏi: Anh/chị đang gặp pain nào nhất trong 4 ý?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3/20</a:t>
            </a:r>
          </a:p>
          <a:p/>
          <a:p>
            <a:r>
              <a:t>Không cần số liệu tuyệt đối — dùng ví dụ từ pain khách vừa nói.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5/20</a:t>
            </a:r>
          </a:p>
          <a:p/>
          <a:p>
            <a:r>
              <a:t>Disqualify nhẹ nhàng nếu ✗ — giữ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6/20</a:t>
            </a:r>
          </a:p>
          <a:p/>
          <a:p>
            <a:r>
              <a:t>Marketing site novixa.vn tách biệt ERP — bảo mật.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7/20</a:t>
            </a:r>
          </a:p>
          <a:p/>
          <a:p>
            <a:r>
              <a:t>Demo: 1 PO → GRN → xem tồn lô.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8/20</a:t>
            </a:r>
          </a:p>
          <a:p/>
          <a:p>
            <a:r>
              <a:t>Demo: 1 đơn bán → kiểm tra lô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9/20</a:t>
            </a:r>
          </a:p>
          <a:p/>
          <a:p>
            <a:r>
              <a:t>Demo: báo cáo INV-02 hoặc màn cảnh báo.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10/20</a:t>
            </a:r>
          </a:p>
          <a:p/>
          <a:p>
            <a:r>
              <a:t>Demo: flow OTP → điểm → đơn nháp (nếu bật).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11/20</a:t>
            </a:r>
          </a:p>
          <a:p/>
          <a:p>
            <a:r>
              <a:t>Không gọi là “BI platform” — đúng scope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12/20</a:t>
            </a:r>
          </a:p>
          <a:p/>
          <a:p>
            <a:r>
              <a:t>Không hạ giá — reframe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13/20</a:t>
            </a:r>
          </a:p>
          <a:p/>
          <a:p>
            <a:r>
              <a:t>Chi tiết: module catalog nội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17/20</a:t>
            </a:r>
          </a:p>
          <a:p/>
          <a:p>
            <a:r>
              <a:t>Tháng 5: Core / Growth / Chain — trao đổi khi ký phụ lục.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19/20</a:t>
            </a:r>
          </a:p>
          <a:p/>
          <a:p>
            <a:r>
              <a:t>Chi tiết: sales-playbook-v1.md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20/20</a:t>
            </a:r>
          </a:p>
          <a:p/>
          <a:p>
            <a:r>
              <a:t>Smart Pharmacy Solutions — Đồng hành dược sĩ vận hành đúng lô, đúng tồn.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Novixa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Pharmacy Solutions</a:t>
            </a:r>
          </a:p>
          <a:p/>
          <a:p>
            <a:r>
              <a:t>Nền tảng quản trị nhà thuốc thế hệ mới</a:t>
            </a:r>
          </a:p>
          <a:p/>
          <a:p>
            <a:r>
              <a:t>Founding Early Access · 2026</a:t>
            </a:r>
          </a:p>
          <a:p>
            <a:r>
              <a:t>novixa.vn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Vấn đề thị trường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Nhà thuốc GPP đang vận hành bằng nhiều “mảnh”</a:t>
            </a:r>
          </a:p>
          <a:p>
            <a:pPr>
              <a:defRPr sz="1800"/>
            </a:pPr>
            <a:r>
              <a:t>• Excel + POS rẻ → không theo lô / HSD</a:t>
            </a:r>
          </a:p>
          <a:p>
            <a:pPr>
              <a:defRPr sz="1800"/>
            </a:pPr>
            <a:r>
              <a:t>• Bán và kho không cùng một nguồn dữ liệu</a:t>
            </a:r>
          </a:p>
          <a:p>
            <a:pPr>
              <a:defRPr sz="1800"/>
            </a:pPr>
            <a:r>
              <a:t>• Khách quay lại — không có CRM / app gắn quầy</a:t>
            </a:r>
          </a:p>
          <a:p>
            <a:pPr>
              <a:defRPr sz="1800"/>
            </a:pPr>
            <a:r>
              <a:t>• Báo cáo trễ, quyết định nhập hàng mù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Hệ quả nếu không thay đổi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Hệ quả · Chi phí ẩn</a:t>
            </a:r>
          </a:p>
          <a:p>
            <a:pPr>
              <a:defRPr sz="1800"/>
            </a:pPr>
            <a:r>
              <a:t>Bán nhầm lô / cận date · Hủy hàng, mất niềm tin</a:t>
            </a:r>
          </a:p>
          <a:p>
            <a:pPr>
              <a:defRPr sz="1800"/>
            </a:pPr>
            <a:r>
              <a:t>Thất thoát tồn · % doanh thu “bay” hàng tháng</a:t>
            </a:r>
          </a:p>
          <a:p>
            <a:pPr>
              <a:defRPr sz="1800"/>
            </a:pPr>
            <a:r>
              <a:t>Nhập thiếu / thừa · Vốn lưu đọng, thiếu hàng hot</a:t>
            </a:r>
          </a:p>
          <a:p>
            <a:pPr>
              <a:defRPr sz="1800"/>
            </a:pPr>
            <a:r>
              <a:t>Chuỗi không so sánh được · Mở rộng chậm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Novixa 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Novixa = ERP nhà thuốc + POS + CRM + App khách</a:t>
            </a:r>
          </a:p>
          <a:p>
            <a:pPr>
              <a:defRPr sz="1800"/>
            </a:pPr>
            <a:r>
              <a:t>Một nền tảng — một hệ dữ liệu:</a:t>
            </a:r>
          </a:p>
          <a:p>
            <a:pPr>
              <a:defRPr sz="1800"/>
            </a:pPr>
            <a:r>
              <a:t>Mua hàng → Tồn lô (FEFO) → Bán POS → Khách hàng → Báo cáo</a:t>
            </a:r>
          </a:p>
          <a:p>
            <a:pPr>
              <a:defRPr sz="1600"/>
            </a:pPr>
            <a:r>
              <a:t>Không phải: POS thu ngân đơn giản · phần mềm kế toán thay thế · tư vấn y khoa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phù hợp?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✓ Phù hợp</a:t>
            </a:r>
          </a:p>
          <a:p>
            <a:pPr>
              <a:defRPr sz="1800"/>
            </a:pPr>
            <a:r>
              <a:t>• Nhà thuốc GPP — độc lập hoặc chuỗi 2–10 cửa</a:t>
            </a:r>
          </a:p>
          <a:p>
            <a:pPr>
              <a:defRPr sz="1800"/>
            </a:pPr>
            <a:r>
              <a:t>• Muốn gom quầy + lô + khách trên một hệ</a:t>
            </a:r>
          </a:p>
          <a:p>
            <a:pPr>
              <a:defRPr sz="1800"/>
            </a:pPr>
            <a:r>
              <a:t>• Sẵn sàng chuyển đổi thật (migrate + training)</a:t>
            </a:r>
          </a:p>
          <a:p>
            <a:pPr>
              <a:defRPr sz="1800"/>
            </a:pPr>
            <a:r>
              <a:t>✗ Chưa phù hợp</a:t>
            </a:r>
          </a:p>
          <a:p>
            <a:pPr>
              <a:defRPr sz="1800"/>
            </a:pPr>
            <a:r>
              <a:t>• Chỉ cần thu ngân, không quan tâm lô/HSD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sản phẩm (Phase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Thành phần · Người dùng · V1</a:t>
            </a:r>
          </a:p>
          <a:p>
            <a:pPr>
              <a:defRPr sz="1800"/>
            </a:pPr>
            <a:r>
              <a:t>Admin ERP · Chủ, quản lý, dược sĩ · ✓</a:t>
            </a:r>
          </a:p>
          <a:p>
            <a:pPr>
              <a:defRPr sz="1800"/>
            </a:pPr>
            <a:r>
              <a:t>POS · Thu ngân quầy · ✓</a:t>
            </a:r>
          </a:p>
          <a:p>
            <a:pPr>
              <a:defRPr sz="1800"/>
            </a:pPr>
            <a:r>
              <a:t>Staff mobile · Bán di động · ✓</a:t>
            </a:r>
          </a:p>
          <a:p>
            <a:pPr>
              <a:defRPr sz="1800"/>
            </a:pPr>
            <a:r>
              <a:t>App khách · Khách hàng NT · ✓</a:t>
            </a:r>
          </a:p>
          <a:p>
            <a:pPr>
              <a:defRPr sz="1800"/>
            </a:pPr>
            <a:r>
              <a:t>Báo cáo Wave 1 · Quản lý ·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 1: Nhập hàng → Tồn lô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 → GRN → Tồn theo lô &amp; HSD</a:t>
            </a:r>
          </a:p>
          <a:p>
            <a:pPr>
              <a:defRPr sz="1800"/>
            </a:pPr>
            <a:r>
              <a:t>• Biết hàng từ đâu, còn bao nhiêu</a:t>
            </a:r>
          </a:p>
          <a:p>
            <a:pPr>
              <a:defRPr sz="1800"/>
            </a:pPr>
            <a:r>
              <a:t>• Thuế GTGT cơ bản trên mua hàng (Phase 1)</a:t>
            </a:r>
          </a:p>
          <a:p>
            <a:pPr>
              <a:defRPr sz="1800"/>
            </a:pPr>
            <a:r>
              <a:t>• Nền tảng cho FEFO khi bán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 2: Bán FEFO tại quầy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POS — nhanh, đúng lô</a:t>
            </a:r>
          </a:p>
          <a:p>
            <a:pPr>
              <a:defRPr sz="1800"/>
            </a:pPr>
            <a:r>
              <a:t>• Quét barcode · chiết khấu · đa hình thức TT</a:t>
            </a:r>
          </a:p>
          <a:p>
            <a:pPr>
              <a:defRPr sz="1800"/>
            </a:pPr>
            <a:r>
              <a:t>• Xuất kho ưu tiên hết hạn trước</a:t>
            </a:r>
          </a:p>
          <a:p>
            <a:pPr>
              <a:defRPr sz="1800"/>
            </a:pPr>
            <a:r>
              <a:t>• Ca làm việc · in bill · trả hàng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 3: Cảnh báo &amp; kiểm soát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Tồn thấp — chủ động nhập</a:t>
            </a:r>
          </a:p>
          <a:p>
            <a:pPr>
              <a:defRPr sz="1800"/>
            </a:pPr>
            <a:r>
              <a:t>• Cận date / HSD — giảm hủy</a:t>
            </a:r>
          </a:p>
          <a:p>
            <a:pPr>
              <a:defRPr sz="1800"/>
            </a:pPr>
            <a:r>
              <a:t>• Kiểm kê chu kỳ — workflow duyệt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 4: Khách hàng &amp; O2O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 khách + CRM</a:t>
            </a:r>
          </a:p>
          <a:p>
            <a:pPr>
              <a:defRPr sz="1800"/>
            </a:pPr>
            <a:r>
              <a:t>• OTP đăng nhập · tích điểm / voucher</a:t>
            </a:r>
          </a:p>
          <a:p>
            <a:pPr>
              <a:defRPr sz="1800"/>
            </a:pPr>
            <a:r>
              <a:t>• Đặt trước — nhận tại quầy (O2O)</a:t>
            </a:r>
          </a:p>
          <a:p>
            <a:pPr>
              <a:defRPr sz="1800"/>
            </a:pPr>
            <a:r>
              <a:t>• Chat dược sĩ (có consent — không thay tư vấn y khoa)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 5: Báo cáo quản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9 báo cáo Wave 1 — doanh thu, tồn, GRN, ca…</a:t>
            </a:r>
          </a:p>
          <a:p>
            <a:pPr>
              <a:defRPr sz="1800"/>
            </a:pPr>
            <a:r>
              <a:t>• Quyết định trong ngày</a:t>
            </a:r>
          </a:p>
          <a:p>
            <a:pPr>
              <a:defRPr sz="1800"/>
            </a:pPr>
            <a:r>
              <a:t>• Xuất CSV · in màn hình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sánh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Novixa · POS rẻ / Excel</a:t>
            </a:r>
          </a:p>
          <a:p>
            <a:pPr>
              <a:defRPr sz="1800"/>
            </a:pPr>
            <a:r>
              <a:t>Category · ERP nhà thuốc · Thu ngân / bảng tính</a:t>
            </a:r>
          </a:p>
          <a:p>
            <a:pPr>
              <a:defRPr sz="1800"/>
            </a:pPr>
            <a:r>
              <a:t>Lô &amp; HSD · ✓ FEFO · ✗ / thủ công</a:t>
            </a:r>
          </a:p>
          <a:p>
            <a:pPr>
              <a:defRPr sz="1800"/>
            </a:pPr>
            <a:r>
              <a:t>App khách + O2O · ✓ · ✗</a:t>
            </a:r>
          </a:p>
          <a:p>
            <a:pPr>
              <a:defRPr sz="1800"/>
            </a:pPr>
            <a:r>
              <a:t>Scale chuỗi · ✓ multi-branch · Khó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(truth in labeling)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Có sẵn V1 · Roadmap</a:t>
            </a:r>
          </a:p>
          <a:p>
            <a:pPr>
              <a:defRPr sz="1800"/>
            </a:pPr>
            <a:r>
              <a:t>POS, kho lô, mua hàng · ✓</a:t>
            </a:r>
          </a:p>
          <a:p>
            <a:pPr>
              <a:defRPr sz="1800"/>
            </a:pPr>
            <a:r>
              <a:t>App khách, loyalty, O2O · ✓</a:t>
            </a:r>
          </a:p>
          <a:p>
            <a:pPr>
              <a:defRPr sz="1800"/>
            </a:pPr>
            <a:r>
              <a:t>Báo cáo Wave 1 · ✓</a:t>
            </a:r>
          </a:p>
          <a:p>
            <a:pPr>
              <a:defRPr sz="1800"/>
            </a:pPr>
            <a:r>
              <a:t>Tra cứu thuốc QG · [Pilot] Mock · Live API</a:t>
            </a:r>
          </a:p>
          <a:p>
            <a:pPr>
              <a:defRPr sz="1800"/>
            </a:pPr>
            <a:r>
              <a:t>HĐĐT / thuế sâu · Phase 2</a:t>
            </a:r>
          </a:p>
          <a:p>
            <a:pPr>
              <a:defRPr sz="1800"/>
            </a:pPr>
            <a:r>
              <a:t>AI copilot · [Pilot] · 2026+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Tuân thủ GPP (vận hành)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Novixa hỗ trợ ghi nhận &amp; truy vết:</a:t>
            </a:r>
          </a:p>
          <a:p>
            <a:pPr>
              <a:defRPr sz="1800"/>
            </a:pPr>
            <a:r>
              <a:t>• Lô, HSD, FEFO, kiểm kê, audit log</a:t>
            </a:r>
          </a:p>
          <a:p>
            <a:pPr>
              <a:defRPr sz="1800"/>
            </a:pPr>
            <a:r>
              <a:t>Phần mềm quản lý — không thay:</a:t>
            </a:r>
          </a:p>
          <a:p>
            <a:pPr>
              <a:defRPr sz="1800"/>
            </a:pPr>
            <a:r>
              <a:t>• Trách nhiệm GPP đạt chuẩn</a:t>
            </a:r>
          </a:p>
          <a:p>
            <a:pPr>
              <a:defRPr sz="1800"/>
            </a:pPr>
            <a:r>
              <a:t>• Tư vấn sử dụng thuốc tại quầy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 Novixa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Cloud SaaS — Model B</a:t>
            </a:r>
          </a:p>
          <a:p>
            <a:pPr>
              <a:defRPr sz="1800"/>
            </a:pPr>
            <a:r>
              <a:t>• `admin.novixa.vn` · `app.novixa.vn`</a:t>
            </a:r>
          </a:p>
          <a:p>
            <a:pPr>
              <a:defRPr sz="1800"/>
            </a:pPr>
            <a:r>
              <a:t>• Multi-tenant · dữ liệu cách ly theo nhà thuốc</a:t>
            </a:r>
          </a:p>
          <a:p>
            <a:pPr>
              <a:defRPr sz="1800"/>
            </a:pPr>
            <a:r>
              <a:t>• Migrate + training có hỗ trợ (founding)</a:t>
            </a:r>
          </a:p>
          <a:p>
            <a:pPr>
              <a:defRPr sz="1800"/>
            </a:pPr>
            <a:r>
              <a:t>Go-live mục tiêu: ≤ 4 tuần từ ký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Founding Early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299.000đ / tháng × 4 tháng đầu</a:t>
            </a:r>
          </a:p>
          <a:p>
            <a:pPr>
              <a:defRPr sz="1800"/>
            </a:pPr>
            <a:r>
              <a:t>Bao gồm đầy đủ Phase 1:</a:t>
            </a:r>
          </a:p>
          <a:p>
            <a:pPr>
              <a:defRPr sz="1800"/>
            </a:pPr>
            <a:r>
              <a:t>• POS · kho lô · app khách · loyalty · O2O · báo cáo</a:t>
            </a:r>
          </a:p>
          <a:p>
            <a:pPr>
              <a:defRPr sz="1800"/>
            </a:pPr>
            <a:r>
              <a:t>Bonus founding:</a:t>
            </a:r>
          </a:p>
          <a:p>
            <a:pPr>
              <a:defRPr sz="1800"/>
            </a:pPr>
            <a:r>
              <a:t>• Migrate danh mục + tồn đầu + training quầy</a:t>
            </a:r>
          </a:p>
          <a:p>
            <a:pPr>
              <a:defRPr sz="1800"/>
            </a:pPr>
            <a:r>
              <a:t>(khi tham gia case study)</a:t>
            </a:r>
          </a:p>
          <a:p>
            <a:pPr>
              <a:defRPr sz="1800"/>
            </a:pPr>
            <a:r>
              <a:t>Cam kết HĐ: tối thiểu 6 tháng</a:t>
            </a:r>
          </a:p>
          <a:p>
            <a:pPr>
              <a:defRPr sz="1800"/>
            </a:pPr>
            <a:r>
              <a:t>Cap: ~2 slot / tháng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sau khi tham 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Mốc · Nội dung</a:t>
            </a:r>
          </a:p>
          <a:p>
            <a:pPr>
              <a:defRPr sz="1800"/>
            </a:pPr>
            <a:r>
              <a:t>Tháng 1–4 · 299k/th · vận hành thật</a:t>
            </a:r>
          </a:p>
          <a:p>
            <a:pPr>
              <a:defRPr sz="1800"/>
            </a:pPr>
            <a:r>
              <a:t>Tháng 3 · Báo cáo sử dụng · hẹn chốt gói</a:t>
            </a:r>
          </a:p>
          <a:p>
            <a:pPr>
              <a:defRPr sz="1800"/>
            </a:pPr>
            <a:r>
              <a:t>Tháng 5 · Chọn gói phù hợp — không tự nâng giá</a:t>
            </a:r>
          </a:p>
          <a:p>
            <a:pPr>
              <a:defRPr sz="1800"/>
            </a:pPr>
            <a:r>
              <a:t>Sau đó · Giá theo catalog đã thống nhất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bắt đầu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Đăng ký / Demo → Khảo sát → Ký HĐ founding</a:t>
            </a:r>
          </a:p>
          <a:p>
            <a:pPr>
              <a:defRPr sz="1800"/>
            </a:pPr>
            <a:r>
              <a:t>→ Onboard 4 tuần → Go-live POS → Hypercare</a:t>
            </a:r>
          </a:p>
          <a:p>
            <a:pPr>
              <a:defRPr sz="1800"/>
            </a:pPr>
            <a:r>
              <a:t>CTA: Đăng ký FOUNDING tại novixa.vn/lien-he</a:t>
            </a:r>
          </a:p>
          <a:p>
            <a:pPr>
              <a:defRPr sz="1800"/>
            </a:pPr>
            <a:r>
              <a:t>Hoặc chốt lịch demo tiếp theo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 nhanh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Câu hỏi · Trả lời ngắn</a:t>
            </a:r>
          </a:p>
          <a:p>
            <a:pPr>
              <a:defRPr sz="1800"/>
            </a:pPr>
            <a:r>
              <a:t>Có HĐĐT? · Roadmap Phase 2 — Phase 1 VAT cơ bản mua hàng</a:t>
            </a:r>
          </a:p>
          <a:p>
            <a:pPr>
              <a:defRPr sz="1800"/>
            </a:pPr>
            <a:r>
              <a:t>So với POS XXX? · ERP vs thu ngân — ROI lô/tồn</a:t>
            </a:r>
          </a:p>
          <a:p>
            <a:pPr>
              <a:defRPr sz="1800"/>
            </a:pPr>
            <a:r>
              <a:t>Sợ migrate? · Founding gồm hỗ trợ + training</a:t>
            </a:r>
          </a:p>
          <a:p>
            <a:pPr>
              <a:defRPr sz="1800"/>
            </a:pPr>
            <a:r>
              <a:t>Bảo mật? · HTTPS, tenant isolation, ERP tách web marketing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Novixa · Smart Pharmacy Solutions</a:t>
            </a:r>
          </a:p>
          <a:p>
            <a:pPr>
              <a:defRPr sz="1800"/>
            </a:pPr>
            <a:r>
              <a:t>🌐 novixa.vn</a:t>
            </a:r>
          </a:p>
          <a:p>
            <a:pPr>
              <a:defRPr sz="1800"/>
            </a:pPr>
            <a:r>
              <a:t>📧 Liên hệ qua form — ghi FOUNDING để ưu tiên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